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850" r:id="rId1"/>
  </p:sldMasterIdLst>
  <p:notesMasterIdLst>
    <p:notesMasterId r:id="rId29"/>
  </p:notesMasterIdLst>
  <p:sldIdLst>
    <p:sldId id="256" r:id="rId2"/>
    <p:sldId id="274" r:id="rId3"/>
    <p:sldId id="275" r:id="rId4"/>
    <p:sldId id="276" r:id="rId5"/>
    <p:sldId id="258" r:id="rId6"/>
    <p:sldId id="278" r:id="rId7"/>
    <p:sldId id="277" r:id="rId8"/>
    <p:sldId id="279" r:id="rId9"/>
    <p:sldId id="281" r:id="rId10"/>
    <p:sldId id="282" r:id="rId11"/>
    <p:sldId id="284" r:id="rId12"/>
    <p:sldId id="285" r:id="rId13"/>
    <p:sldId id="289" r:id="rId14"/>
    <p:sldId id="259" r:id="rId15"/>
    <p:sldId id="286" r:id="rId16"/>
    <p:sldId id="288" r:id="rId17"/>
    <p:sldId id="291" r:id="rId18"/>
    <p:sldId id="260" r:id="rId19"/>
    <p:sldId id="292" r:id="rId20"/>
    <p:sldId id="293" r:id="rId21"/>
    <p:sldId id="294" r:id="rId22"/>
    <p:sldId id="295" r:id="rId23"/>
    <p:sldId id="296" r:id="rId24"/>
    <p:sldId id="297" r:id="rId25"/>
    <p:sldId id="298" r:id="rId26"/>
    <p:sldId id="299" r:id="rId27"/>
    <p:sldId id="264" r:id="rId28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20000"/>
      </a:spcBef>
      <a:spcAft>
        <a:spcPct val="0"/>
      </a:spcAft>
      <a:buClr>
        <a:srgbClr val="FFCC00"/>
      </a:buClr>
      <a:defRPr kumimoji="1" sz="3200" kern="1200">
        <a:solidFill>
          <a:schemeClr val="tx1"/>
        </a:solidFill>
        <a:latin typeface="Tahoma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20000"/>
      </a:spcBef>
      <a:spcAft>
        <a:spcPct val="0"/>
      </a:spcAft>
      <a:buClr>
        <a:srgbClr val="FFCC00"/>
      </a:buClr>
      <a:defRPr kumimoji="1" sz="3200" kern="1200">
        <a:solidFill>
          <a:schemeClr val="tx1"/>
        </a:solidFill>
        <a:latin typeface="Tahoma" charset="0"/>
        <a:ea typeface="ＭＳ Ｐゴシック" charset="0"/>
        <a:cs typeface="ＭＳ Ｐゴシック" charset="0"/>
      </a:defRPr>
    </a:lvl2pPr>
    <a:lvl3pPr marL="914400" algn="l" rtl="0" eaLnBrk="0" fontAlgn="base" hangingPunct="0">
      <a:spcBef>
        <a:spcPct val="20000"/>
      </a:spcBef>
      <a:spcAft>
        <a:spcPct val="0"/>
      </a:spcAft>
      <a:buClr>
        <a:srgbClr val="FFCC00"/>
      </a:buClr>
      <a:defRPr kumimoji="1" sz="3200" kern="1200">
        <a:solidFill>
          <a:schemeClr val="tx1"/>
        </a:solidFill>
        <a:latin typeface="Tahoma" charset="0"/>
        <a:ea typeface="ＭＳ Ｐゴシック" charset="0"/>
        <a:cs typeface="ＭＳ Ｐゴシック" charset="0"/>
      </a:defRPr>
    </a:lvl3pPr>
    <a:lvl4pPr marL="1371600" algn="l" rtl="0" eaLnBrk="0" fontAlgn="base" hangingPunct="0">
      <a:spcBef>
        <a:spcPct val="20000"/>
      </a:spcBef>
      <a:spcAft>
        <a:spcPct val="0"/>
      </a:spcAft>
      <a:buClr>
        <a:srgbClr val="FFCC00"/>
      </a:buClr>
      <a:defRPr kumimoji="1" sz="3200" kern="1200">
        <a:solidFill>
          <a:schemeClr val="tx1"/>
        </a:solidFill>
        <a:latin typeface="Tahoma" charset="0"/>
        <a:ea typeface="ＭＳ Ｐゴシック" charset="0"/>
        <a:cs typeface="ＭＳ Ｐゴシック" charset="0"/>
      </a:defRPr>
    </a:lvl4pPr>
    <a:lvl5pPr marL="1828800" algn="l" rtl="0" eaLnBrk="0" fontAlgn="base" hangingPunct="0">
      <a:spcBef>
        <a:spcPct val="20000"/>
      </a:spcBef>
      <a:spcAft>
        <a:spcPct val="0"/>
      </a:spcAft>
      <a:buClr>
        <a:srgbClr val="FFCC00"/>
      </a:buClr>
      <a:defRPr kumimoji="1" sz="3200" kern="1200">
        <a:solidFill>
          <a:schemeClr val="tx1"/>
        </a:solidFill>
        <a:latin typeface="Tahoma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kumimoji="1" sz="3200" kern="1200">
        <a:solidFill>
          <a:schemeClr val="tx1"/>
        </a:solidFill>
        <a:latin typeface="Tahoma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kumimoji="1" sz="3200" kern="1200">
        <a:solidFill>
          <a:schemeClr val="tx1"/>
        </a:solidFill>
        <a:latin typeface="Tahoma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kumimoji="1" sz="3200" kern="1200">
        <a:solidFill>
          <a:schemeClr val="tx1"/>
        </a:solidFill>
        <a:latin typeface="Tahoma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kumimoji="1" sz="3200" kern="1200">
        <a:solidFill>
          <a:schemeClr val="tx1"/>
        </a:solidFill>
        <a:latin typeface="Tahoma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72805"/>
    <a:srgbClr val="C82C00"/>
    <a:srgbClr val="C11C01"/>
    <a:srgbClr val="EE2902"/>
    <a:srgbClr val="FE8A7E"/>
    <a:srgbClr val="B35769"/>
    <a:srgbClr val="FFCC00"/>
    <a:srgbClr val="CBE6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27"/>
  </p:normalViewPr>
  <p:slideViewPr>
    <p:cSldViewPr>
      <p:cViewPr varScale="1">
        <p:scale>
          <a:sx n="81" d="100"/>
          <a:sy n="81" d="100"/>
        </p:scale>
        <p:origin x="1498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992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31" d="100"/>
          <a:sy n="31" d="100"/>
        </p:scale>
        <p:origin x="-1044" y="-7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png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defRPr kumimoji="0" sz="1200">
                <a:effectLst>
                  <a:outerShdw blurRad="38100" dist="38100" dir="2700000" algn="tl">
                    <a:srgbClr val="DDDDDD"/>
                  </a:outerShdw>
                </a:effectLst>
                <a:latin typeface="Times New Roman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defRPr kumimoji="0" sz="1200">
                <a:effectLst>
                  <a:outerShdw blurRad="38100" dist="38100" dir="2700000" algn="tl">
                    <a:srgbClr val="DDDDDD"/>
                  </a:outerShdw>
                </a:effectLst>
                <a:latin typeface="Times New Roman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="" xmlns:a14="http://schemas.microsoft.com/office/drawing/2010/main" val="1"/>
            </a:ext>
          </a:extLst>
        </p:spPr>
      </p:sp>
      <p:sp>
        <p:nvSpPr>
          <p:cNvPr id="1229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29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defRPr kumimoji="0" sz="1200">
                <a:effectLst>
                  <a:outerShdw blurRad="38100" dist="38100" dir="2700000" algn="tl">
                    <a:srgbClr val="DDDDDD"/>
                  </a:outerShdw>
                </a:effectLst>
                <a:latin typeface="Times New Roman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9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defRPr kumimoji="0" sz="1200">
                <a:effectLst>
                  <a:outerShdw blurRad="38100" dist="38100" dir="2700000" algn="tl">
                    <a:srgbClr val="DDDDDD"/>
                  </a:outerShdw>
                </a:effectLst>
                <a:latin typeface="Times New Roman" charset="0"/>
                <a:cs typeface="+mn-cs"/>
              </a:defRPr>
            </a:lvl1pPr>
          </a:lstStyle>
          <a:p>
            <a:pPr>
              <a:defRPr/>
            </a:pPr>
            <a:fld id="{5662A842-95CC-FA4A-B5ED-232621AE998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08877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9334FA8-B31F-DA4F-96C4-9E90C011373A}" type="slidenum">
              <a:rPr lang="en-US"/>
              <a:pPr>
                <a:defRPr/>
              </a:pPr>
              <a:t>1</a:t>
            </a:fld>
            <a:endParaRPr lang="en-US"/>
          </a:p>
        </p:txBody>
      </p:sp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45440" y="2942602"/>
            <a:ext cx="7147931" cy="246380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572652" y="2944634"/>
            <a:ext cx="1190348" cy="2459736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7712714" y="3136658"/>
            <a:ext cx="910224" cy="2075688"/>
          </a:xfrm>
          <a:prstGeom prst="rect">
            <a:avLst/>
          </a:prstGeom>
          <a:solidFill>
            <a:schemeClr val="accent3">
              <a:alpha val="70000"/>
            </a:schemeClr>
          </a:solidFill>
          <a:ln w="63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445483" y="3055621"/>
            <a:ext cx="6947845" cy="2245359"/>
          </a:xfrm>
          <a:prstGeom prst="rect">
            <a:avLst/>
          </a:prstGeom>
          <a:solidFill>
            <a:srgbClr val="FFFFFF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86826" y="4625268"/>
            <a:ext cx="762000" cy="457200"/>
          </a:xfrm>
        </p:spPr>
        <p:txBody>
          <a:bodyPr/>
          <a:lstStyle>
            <a:lvl1pPr algn="ctr">
              <a:defRPr sz="28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2754ED01-E2A0-4C1E-8E21-014B990415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541822" y="4559276"/>
            <a:ext cx="6755166" cy="664367"/>
          </a:xfrm>
          <a:prstGeom prst="rect">
            <a:avLst/>
          </a:prstGeom>
          <a:solidFill>
            <a:schemeClr val="accent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538971" y="3139440"/>
            <a:ext cx="6760868" cy="2077720"/>
          </a:xfrm>
          <a:prstGeom prst="rect">
            <a:avLst/>
          </a:prstGeom>
          <a:noFill/>
          <a:ln w="6350" cmpd="dbl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2805" y="4648200"/>
            <a:ext cx="6553200" cy="457200"/>
          </a:xfrm>
        </p:spPr>
        <p:txBody>
          <a:bodyPr>
            <a:normAutofit/>
          </a:bodyPr>
          <a:lstStyle>
            <a:lvl1pPr marL="0" indent="0" algn="ctr">
              <a:buNone/>
              <a:defRPr sz="1800" cap="all" spc="300" baseline="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4705" y="3227033"/>
            <a:ext cx="6629400" cy="1219201"/>
          </a:xfrm>
        </p:spPr>
        <p:txBody>
          <a:bodyPr anchor="b" anchorCtr="0">
            <a:noAutofit/>
          </a:bodyPr>
          <a:lstStyle>
            <a:lvl1pPr>
              <a:defRPr sz="4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5D34E1A-85DB-5241-8513-A80C96FFF63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451976" y="2946400"/>
            <a:ext cx="8265160" cy="246380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567656" y="3048000"/>
            <a:ext cx="8033800" cy="2245359"/>
          </a:xfrm>
          <a:prstGeom prst="rect">
            <a:avLst/>
          </a:prstGeom>
          <a:solidFill>
            <a:srgbClr val="FFFFFF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54CEB2-7CE2-6646-A6E9-84565997FAF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6" y="3200399"/>
            <a:ext cx="7696200" cy="1295401"/>
          </a:xfrm>
        </p:spPr>
        <p:txBody>
          <a:bodyPr anchor="b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lang="en-US" sz="4000" kern="1200" cap="all" baseline="0" dirty="0">
                <a:solidFill>
                  <a:schemeClr val="accent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675496" y="4541520"/>
            <a:ext cx="7818120" cy="664367"/>
          </a:xfrm>
          <a:prstGeom prst="rect">
            <a:avLst/>
          </a:prstGeom>
          <a:solidFill>
            <a:schemeClr val="accent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456" y="4607510"/>
            <a:ext cx="7696200" cy="523783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cap="all" spc="250" baseline="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5757" y="3124200"/>
            <a:ext cx="7817599" cy="2077720"/>
          </a:xfrm>
          <a:prstGeom prst="rect">
            <a:avLst/>
          </a:prstGeom>
          <a:noFill/>
          <a:ln w="6350" cmpd="dbl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128" y="408372"/>
            <a:ext cx="8260672" cy="103942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6128" y="1719071"/>
            <a:ext cx="4038600" cy="440740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071"/>
            <a:ext cx="4038600" cy="440740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24E467A-2819-F14D-8372-C13BB79ACB9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128" y="408372"/>
            <a:ext cx="8260672" cy="103942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6128" y="1722438"/>
            <a:ext cx="4040188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6128" y="2438400"/>
            <a:ext cx="4040188" cy="368776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722438"/>
            <a:ext cx="4041775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438400"/>
            <a:ext cx="4041775" cy="368776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8D17885-6BF7-F746-AE04-66C11902EDB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F7FBBCD-E1E9-C14D-AB98-E0BCFCA8504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ounded Rectangle 10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069AD69-B686-9B4E-A8E1-0AEC5CB09C9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ounded Rectangle 11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685800"/>
            <a:ext cx="4572000" cy="52578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560034" y="1505712"/>
            <a:ext cx="2716566" cy="3523488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76690" y="1642472"/>
            <a:ext cx="2483254" cy="3234328"/>
          </a:xfrm>
          <a:prstGeom prst="rect">
            <a:avLst/>
          </a:prstGeom>
          <a:solidFill>
            <a:srgbClr val="FFFFFF"/>
          </a:solidFill>
          <a:ln w="6350" cmpd="dbl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9000" y="2971800"/>
            <a:ext cx="2298634" cy="1752600"/>
          </a:xfrm>
        </p:spPr>
        <p:txBody>
          <a:bodyPr/>
          <a:lstStyle>
            <a:lvl1pPr marL="0" indent="0">
              <a:spcBef>
                <a:spcPts val="4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9000" y="1734312"/>
            <a:ext cx="2298634" cy="1191620"/>
          </a:xfrm>
        </p:spPr>
        <p:txBody>
          <a:bodyPr anchor="b">
            <a:normAutofit/>
          </a:bodyPr>
          <a:lstStyle>
            <a:lvl1pPr algn="l">
              <a:defRPr sz="2000" b="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5800" y="621437"/>
            <a:ext cx="7772400" cy="4331564"/>
          </a:xfrm>
          <a:solidFill>
            <a:schemeClr val="bg2"/>
          </a:solidFill>
          <a:ln>
            <a:noFill/>
          </a:ln>
          <a:effectLst>
            <a:softEdge rad="12700"/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44B61D3-5F3E-594F-A908-D9CA9A1C325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85800" y="4953000"/>
            <a:ext cx="7772400" cy="137160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61999" y="5029200"/>
            <a:ext cx="7600765" cy="1202924"/>
          </a:xfrm>
          <a:prstGeom prst="rect">
            <a:avLst/>
          </a:prstGeom>
          <a:solidFill>
            <a:srgbClr val="FFFFFF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914400" y="5638800"/>
            <a:ext cx="7328514" cy="451696"/>
          </a:xfrm>
          <a:prstGeom prst="rect">
            <a:avLst/>
          </a:prstGeom>
          <a:solidFill>
            <a:schemeClr val="accent1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605589" y="5074920"/>
            <a:ext cx="7946136" cy="1097280"/>
          </a:xfrm>
          <a:prstGeom prst="rect">
            <a:avLst/>
          </a:prstGeom>
          <a:noFill/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56289" y="5656556"/>
            <a:ext cx="7244736" cy="40171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" cap="all" spc="250" baseline="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105400"/>
            <a:ext cx="7328514" cy="523043"/>
          </a:xfrm>
        </p:spPr>
        <p:txBody>
          <a:bodyPr anchor="ctr" anchorCtr="0"/>
          <a:lstStyle>
            <a:lvl1pPr algn="ctr">
              <a:defRPr sz="2000" b="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9E1B6D-7069-B146-AEE0-7573D94659A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861702" y="228600"/>
            <a:ext cx="1859280" cy="6122634"/>
          </a:xfrm>
          <a:prstGeom prst="rect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955225" y="351409"/>
            <a:ext cx="1672235" cy="5877017"/>
          </a:xfrm>
          <a:prstGeom prst="rect">
            <a:avLst/>
          </a:prstGeom>
          <a:solidFill>
            <a:srgbClr val="FFFF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48577" y="395427"/>
            <a:ext cx="1485531" cy="578898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80999"/>
            <a:ext cx="6172200" cy="57912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2218115-2D20-1041-BC48-31BB68AEE90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64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885950"/>
            <a:ext cx="4013200" cy="41719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622800" y="1885950"/>
            <a:ext cx="4013200" cy="417195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5C2F5B-5054-0C43-95C4-F75A2CA64F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8696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64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885950"/>
            <a:ext cx="8178800" cy="20097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4048125"/>
            <a:ext cx="8178800" cy="20097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32D440-54B0-984D-B78E-EBC1F0FCC43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9227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7" name="Rounded Rectangle 6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52600"/>
            <a:ext cx="8229600" cy="4373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F43FDF65-5D31-9745-B432-5F36D1A5C0A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274320" y="278166"/>
            <a:ext cx="8595360" cy="132588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72863" y="372862"/>
            <a:ext cx="8380520" cy="1118587"/>
          </a:xfrm>
          <a:prstGeom prst="rect">
            <a:avLst/>
          </a:prstGeom>
          <a:solidFill>
            <a:srgbClr val="FFFF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6128" y="408372"/>
            <a:ext cx="8260672" cy="10394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1" r:id="rId1"/>
    <p:sldLayoutId id="2147483852" r:id="rId2"/>
    <p:sldLayoutId id="2147483853" r:id="rId3"/>
    <p:sldLayoutId id="2147483854" r:id="rId4"/>
    <p:sldLayoutId id="2147483855" r:id="rId5"/>
    <p:sldLayoutId id="2147483856" r:id="rId6"/>
    <p:sldLayoutId id="2147483857" r:id="rId7"/>
    <p:sldLayoutId id="2147483858" r:id="rId8"/>
    <p:sldLayoutId id="2147483859" r:id="rId9"/>
    <p:sldLayoutId id="2147483860" r:id="rId10"/>
    <p:sldLayoutId id="2147483861" r:id="rId11"/>
    <p:sldLayoutId id="2147483862" r:id="rId12"/>
    <p:sldLayoutId id="2147483863" r:id="rId13"/>
  </p:sldLayoutIdLst>
  <p:txStyles>
    <p:titleStyle>
      <a:lvl1pPr algn="ctr" defTabSz="914400" rtl="0" eaLnBrk="1" latinLnBrk="0" hangingPunct="1">
        <a:spcBef>
          <a:spcPct val="0"/>
        </a:spcBef>
        <a:buNone/>
        <a:defRPr sz="3500" kern="1200" cap="all" baseline="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19456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37744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acrossculturesweb.com/unit1/prca.html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w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3.w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4.w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5.wm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6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8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9.wm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10.wmf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>
              <a:latin typeface="Arial Black" charset="0"/>
              <a:ea typeface="ＭＳ Ｐゴシック" charset="0"/>
            </a:endParaRP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828800"/>
            <a:ext cx="7924800" cy="4171950"/>
          </a:xfrm>
        </p:spPr>
        <p:txBody>
          <a:bodyPr>
            <a:normAutofit fontScale="92500"/>
          </a:bodyPr>
          <a:lstStyle/>
          <a:p>
            <a:pPr algn="ctr">
              <a:buFont typeface="Monotype Sorts" charset="0"/>
              <a:buNone/>
            </a:pPr>
            <a:endParaRPr lang="en-US" sz="3600" dirty="0">
              <a:latin typeface="Tahoma" charset="0"/>
              <a:ea typeface="ＭＳ Ｐゴシック" charset="0"/>
            </a:endParaRPr>
          </a:p>
          <a:p>
            <a:pPr algn="ctr">
              <a:buFont typeface="Monotype Sorts" charset="0"/>
              <a:buNone/>
            </a:pPr>
            <a:r>
              <a:rPr lang="en-US" sz="3600" b="1" dirty="0">
                <a:latin typeface="Tahoma" charset="0"/>
                <a:ea typeface="ＭＳ Ｐゴシック" charset="0"/>
              </a:rPr>
              <a:t>GETTING </a:t>
            </a:r>
          </a:p>
          <a:p>
            <a:pPr algn="ctr">
              <a:buFont typeface="Monotype Sorts" charset="0"/>
              <a:buNone/>
            </a:pPr>
            <a:r>
              <a:rPr lang="en-US" sz="3600" b="1" dirty="0">
                <a:latin typeface="Tahoma" charset="0"/>
                <a:ea typeface="ＭＳ Ｐゴシック" charset="0"/>
              </a:rPr>
              <a:t>STARTED WITH CONFIDENCE</a:t>
            </a:r>
          </a:p>
          <a:p>
            <a:pPr algn="ctr">
              <a:buFont typeface="Monotype Sorts" charset="0"/>
              <a:buNone/>
            </a:pPr>
            <a:r>
              <a:rPr lang="en-US" sz="3600" dirty="0"/>
              <a:t>Personal Report of Communication Apprehension (PRCA-24)</a:t>
            </a:r>
          </a:p>
          <a:p>
            <a:pPr algn="ctr">
              <a:buNone/>
            </a:pPr>
            <a:r>
              <a:rPr lang="en-US" sz="3600" b="1" dirty="0">
                <a:latin typeface="Tahoma" charset="0"/>
                <a:ea typeface="ＭＳ Ｐゴシック" charset="0"/>
                <a:hlinkClick r:id="rId3"/>
              </a:rPr>
              <a:t>http://acrossculturesweb.com/unit1/prca.html</a:t>
            </a:r>
            <a:endParaRPr lang="en-US" sz="3600" b="1">
              <a:latin typeface="Tahoma" charset="0"/>
              <a:ea typeface="ＭＳ Ｐゴシック" charset="0"/>
            </a:endParaRPr>
          </a:p>
          <a:p>
            <a:pPr algn="ctr">
              <a:buFont typeface="Monotype Sorts" charset="0"/>
              <a:buNone/>
            </a:pPr>
            <a:endParaRPr lang="en-US" sz="3600" b="1" dirty="0">
              <a:latin typeface="Tahoma" charset="0"/>
              <a:ea typeface="ＭＳ Ｐゴシック" charset="0"/>
            </a:endParaRPr>
          </a:p>
          <a:p>
            <a:pPr algn="ctr">
              <a:buFont typeface="Monotype Sorts" charset="0"/>
              <a:buNone/>
            </a:pPr>
            <a:endParaRPr lang="en-US" sz="3600" b="1" dirty="0">
              <a:latin typeface="Tahoma" charset="0"/>
              <a:ea typeface="ＭＳ Ｐゴシック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0" grpId="0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5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7772400" cy="1143000"/>
          </a:xfrm>
        </p:spPr>
        <p:txBody>
          <a:bodyPr>
            <a:normAutofit fontScale="90000"/>
          </a:bodyPr>
          <a:lstStyle/>
          <a:p>
            <a:pPr>
              <a:lnSpc>
                <a:spcPct val="125000"/>
              </a:lnSpc>
            </a:pPr>
            <a:r>
              <a:rPr lang="en-US" sz="2400" i="1">
                <a:latin typeface="Arial Black" charset="0"/>
                <a:ea typeface="ＭＳ Ｐゴシック" charset="0"/>
              </a:rPr>
              <a:t>The Roots of Public Speaking Anxiety:</a:t>
            </a:r>
            <a:br>
              <a:rPr lang="en-US" sz="3600">
                <a:latin typeface="Arial Black" charset="0"/>
                <a:ea typeface="ＭＳ Ｐゴシック" charset="0"/>
              </a:rPr>
            </a:br>
            <a:r>
              <a:rPr lang="en-US" sz="3600">
                <a:latin typeface="Arial Black" charset="0"/>
                <a:ea typeface="ＭＳ Ｐゴシック" charset="0"/>
              </a:rPr>
              <a:t>Lack of Experience</a:t>
            </a:r>
            <a:endParaRPr lang="en-US">
              <a:latin typeface="Arial Black" charset="0"/>
              <a:ea typeface="ＭＳ Ｐゴシック" charset="0"/>
            </a:endParaRPr>
          </a:p>
        </p:txBody>
      </p:sp>
      <p:sp>
        <p:nvSpPr>
          <p:cNvPr id="45062" name="Rectangle 6"/>
          <p:cNvSpPr>
            <a:spLocks noGrp="1" noChangeArrowheads="1"/>
          </p:cNvSpPr>
          <p:nvPr>
            <p:ph type="body" sz="half" idx="1"/>
          </p:nvPr>
        </p:nvSpPr>
        <p:spPr/>
        <p:txBody>
          <a:bodyPr>
            <a:normAutofit/>
          </a:bodyPr>
          <a:lstStyle/>
          <a:p>
            <a:pPr>
              <a:buClr>
                <a:srgbClr val="FFCC00"/>
              </a:buClr>
            </a:pPr>
            <a:r>
              <a:rPr lang="en-US" sz="3200" dirty="0">
                <a:latin typeface="Tahoma" charset="0"/>
                <a:ea typeface="ＭＳ Ｐゴシック" charset="0"/>
              </a:rPr>
              <a:t>Anxious anticipation is a natural reaction to new experiences</a:t>
            </a:r>
          </a:p>
        </p:txBody>
      </p:sp>
      <p:graphicFrame>
        <p:nvGraphicFramePr>
          <p:cNvPr id="21507" name="Object 7"/>
          <p:cNvGraphicFramePr>
            <a:graphicFrameLocks noGrp="1" noChangeAspect="1"/>
          </p:cNvGraphicFramePr>
          <p:nvPr>
            <p:ph sz="half" idx="2"/>
          </p:nvPr>
        </p:nvGraphicFramePr>
        <p:xfrm>
          <a:off x="3895725" y="3657600"/>
          <a:ext cx="1685925" cy="2400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7" name="Clip" r:id="rId3" imgW="3850277" imgH="5483134" progId="MS_ClipArt_Gallery.2">
                  <p:embed/>
                </p:oleObj>
              </mc:Choice>
              <mc:Fallback>
                <p:oleObj name="Clip" r:id="rId3" imgW="3850277" imgH="5483134" progId="MS_ClipArt_Gallery.2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95725" y="3657600"/>
                        <a:ext cx="1685925" cy="2400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50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50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62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25000"/>
              </a:lnSpc>
            </a:pPr>
            <a:r>
              <a:rPr lang="en-US" sz="2400" i="1">
                <a:latin typeface="Arial Black" charset="0"/>
                <a:ea typeface="ＭＳ Ｐゴシック" charset="0"/>
              </a:rPr>
              <a:t>The Roots of Public Speaking Anxiety:</a:t>
            </a:r>
            <a:br>
              <a:rPr lang="en-US" sz="3600">
                <a:latin typeface="Arial Black" charset="0"/>
                <a:ea typeface="ＭＳ Ｐゴシック" charset="0"/>
              </a:rPr>
            </a:br>
            <a:r>
              <a:rPr lang="en-US" sz="3600">
                <a:latin typeface="Arial Black" charset="0"/>
                <a:ea typeface="ＭＳ Ｐゴシック" charset="0"/>
              </a:rPr>
              <a:t>Feeling Different</a:t>
            </a:r>
            <a:r>
              <a:rPr lang="en-US">
                <a:latin typeface="Arial Black" charset="0"/>
                <a:ea typeface="ＭＳ Ｐゴシック" charset="0"/>
              </a:rPr>
              <a:t> 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>
              <a:buClr>
                <a:srgbClr val="FFCC00"/>
              </a:buClr>
            </a:pPr>
            <a:r>
              <a:rPr lang="en-US" sz="2800">
                <a:latin typeface="Tahoma" charset="0"/>
                <a:ea typeface="ＭＳ Ｐゴシック" charset="0"/>
              </a:rPr>
              <a:t>Getting up in front of an audience make a speaker sensitive to his or her personal idiosyncrasies</a:t>
            </a:r>
          </a:p>
        </p:txBody>
      </p:sp>
      <p:graphicFrame>
        <p:nvGraphicFramePr>
          <p:cNvPr id="22531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3816350" y="4048125"/>
          <a:ext cx="1460500" cy="2008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1" name="Clip" r:id="rId3" imgW="2310233" imgH="3176167" progId="MS_ClipArt_Gallery.2">
                  <p:embed/>
                </p:oleObj>
              </mc:Choice>
              <mc:Fallback>
                <p:oleObj name="Clip" r:id="rId3" imgW="2310233" imgH="3176167" progId="MS_ClipArt_Gallery.2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6350" y="4048125"/>
                        <a:ext cx="1460500" cy="2008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3" grpId="0" build="p" autoUpdateAnimBg="0" advAuto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25000"/>
              </a:lnSpc>
            </a:pPr>
            <a:r>
              <a:rPr lang="en-US" sz="2400" i="1">
                <a:latin typeface="Arial Black" charset="0"/>
                <a:ea typeface="ＭＳ Ｐゴシック" charset="0"/>
              </a:rPr>
              <a:t>The Roots of Public Speaking Anxiety:</a:t>
            </a:r>
            <a:br>
              <a:rPr lang="en-US" sz="3600">
                <a:latin typeface="Arial Black" charset="0"/>
                <a:ea typeface="ＭＳ Ｐゴシック" charset="0"/>
              </a:rPr>
            </a:br>
            <a:r>
              <a:rPr lang="en-US" sz="3600">
                <a:latin typeface="Arial Black" charset="0"/>
                <a:ea typeface="ＭＳ Ｐゴシック" charset="0"/>
              </a:rPr>
              <a:t>Being the Center of Attention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idx="1"/>
          </p:nvPr>
        </p:nvSpPr>
        <p:spPr>
          <a:xfrm>
            <a:off x="0" y="1905000"/>
            <a:ext cx="9144000" cy="4171950"/>
          </a:xfrm>
        </p:spPr>
        <p:txBody>
          <a:bodyPr>
            <a:normAutofit/>
          </a:bodyPr>
          <a:lstStyle/>
          <a:p>
            <a:pPr>
              <a:buClr>
                <a:srgbClr val="FFCC00"/>
              </a:buClr>
            </a:pPr>
            <a:r>
              <a:rPr lang="en-US" sz="3200" dirty="0">
                <a:latin typeface="Tahoma" charset="0"/>
                <a:ea typeface="ＭＳ Ｐゴシック" charset="0"/>
              </a:rPr>
              <a:t>A speaker</a:t>
            </a:r>
            <a:r>
              <a:rPr lang="en-US" sz="3200" dirty="0">
                <a:latin typeface="Arial" charset="0"/>
                <a:ea typeface="ＭＳ Ｐゴシック" charset="0"/>
              </a:rPr>
              <a:t>’</a:t>
            </a:r>
            <a:r>
              <a:rPr lang="en-US" altLang="ja-JP" sz="3200" dirty="0">
                <a:latin typeface="Tahoma" charset="0"/>
                <a:ea typeface="ＭＳ Ｐゴシック" charset="0"/>
              </a:rPr>
              <a:t>s conspicuous feeling due to the audience</a:t>
            </a:r>
            <a:r>
              <a:rPr lang="en-US" sz="3200" dirty="0">
                <a:latin typeface="Arial" charset="0"/>
                <a:ea typeface="ＭＳ Ｐゴシック" charset="0"/>
              </a:rPr>
              <a:t>’</a:t>
            </a:r>
            <a:r>
              <a:rPr lang="en-US" altLang="ja-JP" sz="3200" dirty="0">
                <a:latin typeface="Tahoma" charset="0"/>
                <a:ea typeface="ＭＳ Ｐゴシック" charset="0"/>
              </a:rPr>
              <a:t>s attention. </a:t>
            </a:r>
          </a:p>
          <a:p>
            <a:pPr lvl="1">
              <a:buClr>
                <a:srgbClr val="FFCC00"/>
              </a:buClr>
              <a:buFont typeface="Monotype Sorts" charset="0"/>
              <a:buChar char="z"/>
            </a:pPr>
            <a:r>
              <a:rPr lang="en-US" sz="3200" dirty="0">
                <a:latin typeface="Tahoma" charset="0"/>
                <a:ea typeface="ＭＳ Ｐゴシック" charset="0"/>
              </a:rPr>
              <a:t>In actuality, the audience notices very little about us that we don</a:t>
            </a:r>
            <a:r>
              <a:rPr lang="ja-JP" altLang="en-US" sz="3200" dirty="0">
                <a:latin typeface="Arial" charset="0"/>
                <a:ea typeface="ＭＳ Ｐゴシック" charset="0"/>
              </a:rPr>
              <a:t>’</a:t>
            </a:r>
            <a:r>
              <a:rPr lang="en-US" altLang="ja-JP" sz="3200" dirty="0">
                <a:latin typeface="Tahoma" charset="0"/>
                <a:ea typeface="ＭＳ Ｐゴシック" charset="0"/>
              </a:rPr>
              <a:t>t want to reveal</a:t>
            </a:r>
          </a:p>
          <a:p>
            <a:pPr lvl="1">
              <a:buClr>
                <a:srgbClr val="FFCC00"/>
              </a:buClr>
              <a:buFont typeface="Monotype Sorts" charset="0"/>
              <a:buChar char="z"/>
            </a:pPr>
            <a:r>
              <a:rPr lang="en-US" sz="3200" dirty="0">
                <a:latin typeface="Tahoma" charset="0"/>
                <a:ea typeface="ＭＳ Ｐゴシック" charset="0"/>
              </a:rPr>
              <a:t>especially if our speech is well developed and effectively delivered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7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7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7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5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latin typeface="Arial Black" charset="0"/>
                <a:ea typeface="ＭＳ Ｐゴシック" charset="0"/>
              </a:rPr>
              <a:t>Public Speaking Anxiety:</a:t>
            </a:r>
            <a:br>
              <a:rPr lang="en-US">
                <a:latin typeface="Arial Black" charset="0"/>
                <a:ea typeface="ＭＳ Ｐゴシック" charset="0"/>
              </a:rPr>
            </a:br>
            <a:r>
              <a:rPr lang="en-US">
                <a:latin typeface="Arial Black" charset="0"/>
                <a:ea typeface="ＭＳ Ｐゴシック" charset="0"/>
              </a:rPr>
              <a:t>Forms and Consequences</a:t>
            </a:r>
            <a:endParaRPr lang="en-US" b="1">
              <a:latin typeface="Arial" charset="0"/>
              <a:ea typeface="ＭＳ Ｐゴシック" charset="0"/>
            </a:endParaRPr>
          </a:p>
        </p:txBody>
      </p:sp>
      <p:sp>
        <p:nvSpPr>
          <p:cNvPr id="17414" name="Rectangle 6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FFCC00"/>
              </a:buClr>
            </a:pPr>
            <a:r>
              <a:rPr lang="en-US" sz="3600">
                <a:latin typeface="Tahoma" charset="0"/>
                <a:ea typeface="ＭＳ Ｐゴシック" charset="0"/>
              </a:rPr>
              <a:t>Communication Apprehension</a:t>
            </a:r>
          </a:p>
          <a:p>
            <a:pPr lvl="1">
              <a:buClr>
                <a:srgbClr val="FFCC00"/>
              </a:buClr>
              <a:buFont typeface="Monotype Sorts" charset="0"/>
              <a:buChar char="z"/>
            </a:pPr>
            <a:r>
              <a:rPr lang="en-US" sz="3200">
                <a:latin typeface="Tahoma" charset="0"/>
                <a:ea typeface="ＭＳ Ｐゴシック" charset="0"/>
              </a:rPr>
              <a:t>General fear or anxiety associated with real or anticipated communication with one or more people.</a:t>
            </a:r>
            <a:endParaRPr lang="en-US">
              <a:latin typeface="Tahoma" charset="0"/>
              <a:ea typeface="ＭＳ Ｐゴシック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4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4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4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25000"/>
              </a:lnSpc>
            </a:pPr>
            <a:r>
              <a:rPr lang="en-US" sz="2400" i="1">
                <a:latin typeface="Arial Black" charset="0"/>
                <a:ea typeface="ＭＳ Ｐゴシック" charset="0"/>
              </a:rPr>
              <a:t>Public Speaking Anxiety:</a:t>
            </a:r>
            <a:br>
              <a:rPr lang="en-US" sz="2400">
                <a:latin typeface="Arial Black" charset="0"/>
                <a:ea typeface="ＭＳ Ｐゴシック" charset="0"/>
              </a:rPr>
            </a:br>
            <a:r>
              <a:rPr lang="en-US" sz="3600">
                <a:latin typeface="Arial Black" charset="0"/>
                <a:ea typeface="ＭＳ Ｐゴシック" charset="0"/>
              </a:rPr>
              <a:t>Communication Apprehension</a:t>
            </a:r>
            <a:endParaRPr lang="en-US" sz="4400">
              <a:latin typeface="Arial" charset="0"/>
              <a:ea typeface="ＭＳ Ｐゴシック" charset="0"/>
            </a:endParaRPr>
          </a:p>
        </p:txBody>
      </p:sp>
      <p:sp>
        <p:nvSpPr>
          <p:cNvPr id="5222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Clr>
                <a:srgbClr val="FFCC00"/>
              </a:buClr>
            </a:pPr>
            <a:r>
              <a:rPr lang="en-US" sz="3200" dirty="0">
                <a:latin typeface="Tahoma" charset="0"/>
                <a:ea typeface="ＭＳ Ｐゴシック" charset="0"/>
              </a:rPr>
              <a:t>Context-Based Communication Apprehension</a:t>
            </a:r>
          </a:p>
          <a:p>
            <a:pPr lvl="1">
              <a:buClr>
                <a:srgbClr val="FFCC00"/>
              </a:buClr>
              <a:buFont typeface="Monotype Sorts" charset="0"/>
              <a:buChar char="z"/>
            </a:pPr>
            <a:r>
              <a:rPr lang="en-US" sz="3200" dirty="0">
                <a:latin typeface="Tahoma" charset="0"/>
                <a:ea typeface="ＭＳ Ｐゴシック" charset="0"/>
              </a:rPr>
              <a:t>Communication apprehension associated with a particular mode or context of communication, such as public speaking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2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2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2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2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7" grpId="0" build="p" autoUpdateAnimBg="0" advAuto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25000"/>
              </a:lnSpc>
            </a:pPr>
            <a:r>
              <a:rPr lang="en-US" sz="2400" i="1">
                <a:latin typeface="Arial Black" charset="0"/>
                <a:ea typeface="ＭＳ Ｐゴシック" charset="0"/>
              </a:rPr>
              <a:t>Public Speaking Anxiety:</a:t>
            </a:r>
            <a:br>
              <a:rPr lang="en-US" sz="2400">
                <a:latin typeface="Arial Black" charset="0"/>
                <a:ea typeface="ＭＳ Ｐゴシック" charset="0"/>
              </a:rPr>
            </a:br>
            <a:r>
              <a:rPr lang="en-US" sz="3600">
                <a:latin typeface="Arial Black" charset="0"/>
                <a:ea typeface="ＭＳ Ｐゴシック" charset="0"/>
              </a:rPr>
              <a:t>Communication Apprehension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76400"/>
            <a:ext cx="8229600" cy="4953000"/>
          </a:xfrm>
        </p:spPr>
        <p:txBody>
          <a:bodyPr/>
          <a:lstStyle/>
          <a:p>
            <a:pPr>
              <a:buClr>
                <a:srgbClr val="FFCC00"/>
              </a:buClr>
            </a:pPr>
            <a:r>
              <a:rPr lang="en-US" sz="3600">
                <a:latin typeface="Arial" charset="0"/>
                <a:ea typeface="ＭＳ Ｐゴシック" charset="0"/>
              </a:rPr>
              <a:t>Audience-Specific </a:t>
            </a:r>
            <a:r>
              <a:rPr lang="en-US" sz="3600">
                <a:latin typeface="Tahoma" charset="0"/>
                <a:ea typeface="ＭＳ Ｐゴシック" charset="0"/>
              </a:rPr>
              <a:t>Communication Apprehension</a:t>
            </a:r>
            <a:endParaRPr lang="en-US" sz="3600">
              <a:latin typeface="Arial" charset="0"/>
              <a:ea typeface="ＭＳ Ｐゴシック" charset="0"/>
            </a:endParaRPr>
          </a:p>
          <a:p>
            <a:pPr lvl="1">
              <a:buClr>
                <a:srgbClr val="FFCC00"/>
              </a:buClr>
              <a:buFont typeface="Monotype Sorts" charset="0"/>
              <a:buChar char="z"/>
            </a:pPr>
            <a:r>
              <a:rPr lang="en-US" sz="3200">
                <a:latin typeface="Tahoma" charset="0"/>
                <a:ea typeface="ＭＳ Ｐゴシック" charset="0"/>
              </a:rPr>
              <a:t>Anxiety about communicating with a particular person or group of people as one</a:t>
            </a:r>
            <a:r>
              <a:rPr lang="ja-JP" altLang="en-US" sz="3200">
                <a:latin typeface="Arial" charset="0"/>
                <a:ea typeface="ＭＳ Ｐゴシック" charset="0"/>
              </a:rPr>
              <a:t>’</a:t>
            </a:r>
            <a:r>
              <a:rPr lang="en-US" altLang="ja-JP" sz="3200">
                <a:latin typeface="Tahoma" charset="0"/>
                <a:ea typeface="ＭＳ Ｐゴシック" charset="0"/>
              </a:rPr>
              <a:t>s audience</a:t>
            </a:r>
            <a:endParaRPr lang="en-US">
              <a:latin typeface="Tahoma" charset="0"/>
              <a:ea typeface="ＭＳ Ｐゴシック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2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3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25000"/>
              </a:lnSpc>
            </a:pPr>
            <a:r>
              <a:rPr lang="en-US" sz="2400" i="1">
                <a:latin typeface="Arial Black" charset="0"/>
                <a:ea typeface="ＭＳ Ｐゴシック" charset="0"/>
              </a:rPr>
              <a:t>Public Speaking Anxiety:</a:t>
            </a:r>
            <a:br>
              <a:rPr lang="en-US" sz="2400">
                <a:latin typeface="Arial Black" charset="0"/>
                <a:ea typeface="ＭＳ Ｐゴシック" charset="0"/>
              </a:rPr>
            </a:br>
            <a:r>
              <a:rPr lang="en-US" sz="3600">
                <a:latin typeface="Arial Black" charset="0"/>
                <a:ea typeface="ＭＳ Ｐゴシック" charset="0"/>
              </a:rPr>
              <a:t>Communication Apprehension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Clr>
                <a:srgbClr val="FFCC00"/>
              </a:buClr>
            </a:pPr>
            <a:r>
              <a:rPr lang="en-US" sz="3200" dirty="0">
                <a:latin typeface="Tahoma" charset="0"/>
                <a:ea typeface="ＭＳ Ｐゴシック" charset="0"/>
              </a:rPr>
              <a:t>Situational Communication </a:t>
            </a:r>
          </a:p>
          <a:p>
            <a:pPr>
              <a:buClr>
                <a:srgbClr val="FFCC00"/>
              </a:buClr>
            </a:pPr>
            <a:r>
              <a:rPr lang="en-US" sz="3200" dirty="0">
                <a:latin typeface="Tahoma" charset="0"/>
                <a:ea typeface="ＭＳ Ｐゴシック" charset="0"/>
              </a:rPr>
              <a:t>   Apprehension</a:t>
            </a:r>
          </a:p>
          <a:p>
            <a:pPr lvl="1">
              <a:buClr>
                <a:srgbClr val="FFCC00"/>
              </a:buClr>
              <a:buFont typeface="Monotype Sorts" charset="0"/>
              <a:buChar char="z"/>
            </a:pPr>
            <a:r>
              <a:rPr lang="en-US" sz="3200" dirty="0">
                <a:latin typeface="Tahoma" charset="0"/>
                <a:ea typeface="ＭＳ Ｐゴシック" charset="0"/>
              </a:rPr>
              <a:t>Anxiety about communicating with a particular audience on a particular occasion at a particular time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32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32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1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25000"/>
              </a:lnSpc>
            </a:pPr>
            <a:r>
              <a:rPr lang="en-US" sz="2400" i="1">
                <a:latin typeface="Arial Black" charset="0"/>
                <a:ea typeface="ＭＳ Ｐゴシック" charset="0"/>
              </a:rPr>
              <a:t>Public Speaking Anxiety:</a:t>
            </a:r>
            <a:br>
              <a:rPr lang="en-US" sz="3200">
                <a:latin typeface="Arial Black" charset="0"/>
                <a:ea typeface="ＭＳ Ｐゴシック" charset="0"/>
              </a:rPr>
            </a:br>
            <a:r>
              <a:rPr lang="en-US" sz="3600">
                <a:latin typeface="Arial Black" charset="0"/>
                <a:ea typeface="ＭＳ Ｐゴシック" charset="0"/>
              </a:rPr>
              <a:t>Public Speaking Anxiety</a:t>
            </a:r>
            <a:endParaRPr lang="en-US">
              <a:latin typeface="Arial Black" charset="0"/>
              <a:ea typeface="ＭＳ Ｐゴシック" charset="0"/>
            </a:endParaRPr>
          </a:p>
        </p:txBody>
      </p:sp>
      <p:sp>
        <p:nvSpPr>
          <p:cNvPr id="5529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Clr>
                <a:srgbClr val="FFCC00"/>
              </a:buClr>
            </a:pPr>
            <a:r>
              <a:rPr lang="en-US" sz="3200" dirty="0">
                <a:latin typeface="Tahoma" charset="0"/>
                <a:ea typeface="ＭＳ Ｐゴシック" charset="0"/>
              </a:rPr>
              <a:t>Pre-Preparation Anxiety</a:t>
            </a:r>
          </a:p>
          <a:p>
            <a:pPr lvl="1">
              <a:buClr>
                <a:srgbClr val="FFCC00"/>
              </a:buClr>
              <a:buFont typeface="Monotype Sorts" charset="0"/>
              <a:buChar char="z"/>
            </a:pPr>
            <a:r>
              <a:rPr lang="en-US" sz="3200" dirty="0">
                <a:latin typeface="Tahoma" charset="0"/>
                <a:ea typeface="ＭＳ Ｐゴシック" charset="0"/>
              </a:rPr>
              <a:t>The anxiety experienced once it is realized one will be giving a speech</a:t>
            </a:r>
          </a:p>
          <a:p>
            <a:pPr>
              <a:buClr>
                <a:srgbClr val="FFCC00"/>
              </a:buClr>
            </a:pPr>
            <a:r>
              <a:rPr lang="en-US" sz="3200" dirty="0">
                <a:latin typeface="Tahoma" charset="0"/>
                <a:ea typeface="ＭＳ Ｐゴシック" charset="0"/>
              </a:rPr>
              <a:t>Preparation Anxiety</a:t>
            </a:r>
          </a:p>
          <a:p>
            <a:pPr lvl="1">
              <a:buClr>
                <a:srgbClr val="FFCC00"/>
              </a:buClr>
              <a:buFont typeface="Monotype Sorts" charset="0"/>
              <a:buChar char="z"/>
            </a:pPr>
            <a:r>
              <a:rPr lang="en-US" sz="3200" dirty="0">
                <a:latin typeface="Tahoma" charset="0"/>
                <a:ea typeface="ＭＳ Ｐゴシック" charset="0"/>
              </a:rPr>
              <a:t>The onset of public speaking anxiety once preparation for a speech has gotten under way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52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52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299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25000"/>
              </a:lnSpc>
            </a:pPr>
            <a:r>
              <a:rPr lang="en-US" sz="2400" i="1">
                <a:latin typeface="Arial Black" charset="0"/>
                <a:ea typeface="ＭＳ Ｐゴシック" charset="0"/>
              </a:rPr>
              <a:t>Public Speaking Anxiety:</a:t>
            </a:r>
            <a:br>
              <a:rPr lang="en-US" sz="3200">
                <a:latin typeface="Arial Black" charset="0"/>
                <a:ea typeface="ＭＳ Ｐゴシック" charset="0"/>
              </a:rPr>
            </a:br>
            <a:r>
              <a:rPr lang="en-US" sz="3600">
                <a:latin typeface="Arial Black" charset="0"/>
                <a:ea typeface="ＭＳ Ｐゴシック" charset="0"/>
              </a:rPr>
              <a:t>Public Speaking Anxiety</a:t>
            </a:r>
            <a:endParaRPr lang="en-US">
              <a:latin typeface="Arial Black" charset="0"/>
              <a:ea typeface="ＭＳ Ｐゴシック" charset="0"/>
            </a:endParaRPr>
          </a:p>
        </p:txBody>
      </p:sp>
      <p:sp>
        <p:nvSpPr>
          <p:cNvPr id="5632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Clr>
                <a:srgbClr val="FFCC00"/>
              </a:buClr>
            </a:pPr>
            <a:r>
              <a:rPr lang="en-US" sz="3200" dirty="0">
                <a:latin typeface="Tahoma" charset="0"/>
                <a:ea typeface="ＭＳ Ｐゴシック" charset="0"/>
              </a:rPr>
              <a:t>Pre-Performance Anxiety</a:t>
            </a:r>
          </a:p>
          <a:p>
            <a:pPr lvl="1">
              <a:buClr>
                <a:srgbClr val="FFCC00"/>
              </a:buClr>
              <a:buFont typeface="Monotype Sorts" charset="0"/>
              <a:buChar char="z"/>
            </a:pPr>
            <a:r>
              <a:rPr lang="en-US" sz="3200" dirty="0">
                <a:latin typeface="Tahoma" charset="0"/>
                <a:ea typeface="ＭＳ Ｐゴシック" charset="0"/>
              </a:rPr>
              <a:t>The onset of public speaking anxiety immediately prior to giving a speech</a:t>
            </a:r>
          </a:p>
          <a:p>
            <a:pPr>
              <a:buClr>
                <a:srgbClr val="FFCC00"/>
              </a:buClr>
            </a:pPr>
            <a:r>
              <a:rPr lang="en-US" sz="3200" dirty="0">
                <a:latin typeface="Tahoma" charset="0"/>
                <a:ea typeface="ＭＳ Ｐゴシック" charset="0"/>
              </a:rPr>
              <a:t>Performance Anxiety</a:t>
            </a:r>
          </a:p>
          <a:p>
            <a:pPr lvl="1">
              <a:buClr>
                <a:srgbClr val="FFCC00"/>
              </a:buClr>
              <a:buFont typeface="Monotype Sorts" charset="0"/>
              <a:buChar char="z"/>
            </a:pPr>
            <a:r>
              <a:rPr lang="en-US" sz="3200" dirty="0">
                <a:latin typeface="Tahoma" charset="0"/>
                <a:ea typeface="ＭＳ Ｐゴシック" charset="0"/>
              </a:rPr>
              <a:t>The onset of public speaking anxiety while giving a speech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63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63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3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534400" cy="1143000"/>
          </a:xfrm>
        </p:spPr>
        <p:txBody>
          <a:bodyPr>
            <a:normAutofit fontScale="90000"/>
          </a:bodyPr>
          <a:lstStyle/>
          <a:p>
            <a:r>
              <a:rPr lang="en-US" sz="2400" i="1">
                <a:latin typeface="Arial Black" charset="0"/>
                <a:ea typeface="ＭＳ Ｐゴシック" charset="0"/>
              </a:rPr>
              <a:t>Public Speaking Anxiety:</a:t>
            </a:r>
            <a:br>
              <a:rPr lang="en-US" sz="3200">
                <a:latin typeface="Arial Black" charset="0"/>
                <a:ea typeface="ＭＳ Ｐゴシック" charset="0"/>
              </a:rPr>
            </a:br>
            <a:r>
              <a:rPr lang="en-US" sz="3600">
                <a:latin typeface="Arial Black" charset="0"/>
                <a:ea typeface="ＭＳ Ｐゴシック" charset="0"/>
              </a:rPr>
              <a:t>Consequences of Public Speaking Anxiety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>
              <a:buClr>
                <a:srgbClr val="FFCC00"/>
              </a:buClr>
            </a:pPr>
            <a:r>
              <a:rPr lang="en-US" sz="2800">
                <a:latin typeface="Tahoma" charset="0"/>
                <a:ea typeface="ＭＳ Ｐゴシック" charset="0"/>
              </a:rPr>
              <a:t>The consequences of public speaking anxiety can include everything from procrastination to poor speech performance</a:t>
            </a:r>
          </a:p>
        </p:txBody>
      </p:sp>
      <p:graphicFrame>
        <p:nvGraphicFramePr>
          <p:cNvPr id="58376" name="Object 8"/>
          <p:cNvGraphicFramePr>
            <a:graphicFrameLocks noGrp="1" noChangeAspect="1"/>
          </p:cNvGraphicFramePr>
          <p:nvPr>
            <p:ph type="clipArt" sz="half" idx="2"/>
          </p:nvPr>
        </p:nvGraphicFramePr>
        <p:xfrm>
          <a:off x="5340350" y="2397125"/>
          <a:ext cx="2576513" cy="314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7" name="Clip" r:id="rId3" imgW="2575775" imgH="3148885" progId="MS_ClipArt_Gallery.2">
                  <p:embed/>
                </p:oleObj>
              </mc:Choice>
              <mc:Fallback>
                <p:oleObj name="Clip" r:id="rId3" imgW="2575775" imgH="3148885" progId="MS_ClipArt_Gallery.2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40350" y="2397125"/>
                        <a:ext cx="2576513" cy="314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83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83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3" presetClass="entr" presetSubtype="52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83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83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83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83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1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1143000"/>
          </a:xfrm>
        </p:spPr>
        <p:txBody>
          <a:bodyPr>
            <a:normAutofit fontScale="90000"/>
          </a:bodyPr>
          <a:lstStyle/>
          <a:p>
            <a:r>
              <a:rPr lang="en-US" sz="2400" i="1">
                <a:latin typeface="Arial Black" charset="0"/>
                <a:ea typeface="ＭＳ Ｐゴシック" charset="0"/>
              </a:rPr>
              <a:t>Public Speaking Anxiety:</a:t>
            </a:r>
            <a:br>
              <a:rPr lang="en-US" sz="3200">
                <a:latin typeface="Arial Black" charset="0"/>
                <a:ea typeface="ＭＳ Ｐゴシック" charset="0"/>
              </a:rPr>
            </a:br>
            <a:r>
              <a:rPr lang="en-US" sz="3600">
                <a:latin typeface="Arial Black" charset="0"/>
                <a:ea typeface="ＭＳ Ｐゴシック" charset="0"/>
              </a:rPr>
              <a:t>Coping With Public Speaking Anxiety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Clr>
                <a:srgbClr val="FFCC00"/>
              </a:buClr>
            </a:pPr>
            <a:r>
              <a:rPr lang="en-US" sz="3200" dirty="0">
                <a:latin typeface="Tahoma" charset="0"/>
                <a:ea typeface="ＭＳ Ｐゴシック" charset="0"/>
              </a:rPr>
              <a:t>Manage your anxiety instead of allowing it to manage you</a:t>
            </a:r>
          </a:p>
          <a:p>
            <a:pPr>
              <a:buClr>
                <a:srgbClr val="FFCC00"/>
              </a:buClr>
            </a:pPr>
            <a:r>
              <a:rPr lang="en-US" sz="3200" dirty="0">
                <a:latin typeface="Tahoma" charset="0"/>
                <a:ea typeface="ＭＳ Ｐゴシック" charset="0"/>
              </a:rPr>
              <a:t>Develop a clear and thorough plan for each speech to build your confidence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93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93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395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latin typeface="Arial Black" charset="0"/>
                <a:ea typeface="ＭＳ Ｐゴシック" charset="0"/>
              </a:rPr>
              <a:t>Strategies For Getting Started With Confidence</a:t>
            </a:r>
          </a:p>
        </p:txBody>
      </p:sp>
      <p:sp>
        <p:nvSpPr>
          <p:cNvPr id="6963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Clr>
                <a:srgbClr val="FFCC00"/>
              </a:buClr>
            </a:pPr>
            <a:r>
              <a:rPr lang="en-US" sz="3200" dirty="0">
                <a:latin typeface="Tahoma" charset="0"/>
                <a:ea typeface="ＭＳ Ｐゴシック" charset="0"/>
              </a:rPr>
              <a:t>Prepare and Practice </a:t>
            </a:r>
          </a:p>
          <a:p>
            <a:pPr>
              <a:buClr>
                <a:srgbClr val="FFCC00"/>
              </a:buClr>
            </a:pPr>
            <a:r>
              <a:rPr lang="en-US" sz="3200" dirty="0">
                <a:latin typeface="Tahoma" charset="0"/>
                <a:ea typeface="ＭＳ Ｐゴシック" charset="0"/>
              </a:rPr>
              <a:t>Modify Thoughts and Attitudes</a:t>
            </a:r>
          </a:p>
          <a:p>
            <a:pPr>
              <a:buClr>
                <a:srgbClr val="FFCC00"/>
              </a:buClr>
            </a:pPr>
            <a:r>
              <a:rPr lang="en-US" sz="3200" dirty="0">
                <a:latin typeface="Tahoma" charset="0"/>
                <a:ea typeface="ＭＳ Ｐゴシック" charset="0"/>
              </a:rPr>
              <a:t>Visualize Success</a:t>
            </a:r>
          </a:p>
          <a:p>
            <a:pPr>
              <a:buClr>
                <a:srgbClr val="FFCC00"/>
              </a:buClr>
            </a:pPr>
            <a:r>
              <a:rPr lang="en-US" sz="3200" dirty="0">
                <a:latin typeface="Tahoma" charset="0"/>
                <a:ea typeface="ＭＳ Ｐゴシック" charset="0"/>
              </a:rPr>
              <a:t>Use Relaxation Techniques</a:t>
            </a:r>
          </a:p>
          <a:p>
            <a:pPr>
              <a:buClr>
                <a:srgbClr val="FFCC00"/>
              </a:buClr>
            </a:pPr>
            <a:r>
              <a:rPr lang="en-US" sz="3200" dirty="0">
                <a:latin typeface="Tahoma" charset="0"/>
                <a:ea typeface="ＭＳ Ｐゴシック" charset="0"/>
              </a:rPr>
              <a:t>Depersonalize the Speech Evaluation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96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96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35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/>
          <p:cNvSpPr>
            <a:spLocks noGrp="1" noChangeArrowheads="1"/>
          </p:cNvSpPr>
          <p:nvPr>
            <p:ph type="title"/>
          </p:nvPr>
        </p:nvSpPr>
        <p:spPr>
          <a:xfrm>
            <a:off x="406400" y="228600"/>
            <a:ext cx="8432800" cy="1143000"/>
          </a:xfrm>
        </p:spPr>
        <p:txBody>
          <a:bodyPr>
            <a:normAutofit fontScale="90000"/>
          </a:bodyPr>
          <a:lstStyle/>
          <a:p>
            <a:pPr>
              <a:lnSpc>
                <a:spcPct val="125000"/>
              </a:lnSpc>
            </a:pPr>
            <a:r>
              <a:rPr lang="en-US" sz="2200" i="1" dirty="0">
                <a:latin typeface="Arial Black" charset="0"/>
                <a:ea typeface="ＭＳ Ｐゴシック" charset="0"/>
              </a:rPr>
              <a:t>Strategies for Getting Started With Confidence:</a:t>
            </a:r>
            <a:br>
              <a:rPr lang="en-US" sz="2200" dirty="0">
                <a:latin typeface="Arial Black" charset="0"/>
                <a:ea typeface="ＭＳ Ｐゴシック" charset="0"/>
              </a:rPr>
            </a:br>
            <a:r>
              <a:rPr lang="en-US" sz="3600" dirty="0">
                <a:latin typeface="Arial Black" charset="0"/>
                <a:ea typeface="ＭＳ Ｐゴシック" charset="0"/>
              </a:rPr>
              <a:t>Prepare and Practice</a:t>
            </a:r>
            <a:endParaRPr lang="en-US" dirty="0">
              <a:latin typeface="Arial" charset="0"/>
              <a:ea typeface="ＭＳ Ｐゴシック" charset="0"/>
            </a:endParaRP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4013200" cy="5029200"/>
          </a:xfrm>
        </p:spPr>
        <p:txBody>
          <a:bodyPr>
            <a:normAutofit lnSpcReduction="10000"/>
          </a:bodyPr>
          <a:lstStyle/>
          <a:p>
            <a:pPr>
              <a:buClr>
                <a:srgbClr val="FFCC00"/>
              </a:buClr>
            </a:pPr>
            <a:r>
              <a:rPr lang="en-US" sz="2800">
                <a:latin typeface="Tahoma" charset="0"/>
                <a:ea typeface="ＭＳ Ｐゴシック" charset="0"/>
              </a:rPr>
              <a:t>Manage your time wisely</a:t>
            </a:r>
          </a:p>
          <a:p>
            <a:pPr>
              <a:buClr>
                <a:srgbClr val="FFCC00"/>
              </a:buClr>
            </a:pPr>
            <a:r>
              <a:rPr lang="en-US" sz="2800">
                <a:latin typeface="Tahoma" charset="0"/>
                <a:ea typeface="ＭＳ Ｐゴシック" charset="0"/>
              </a:rPr>
              <a:t>Don</a:t>
            </a:r>
            <a:r>
              <a:rPr lang="ja-JP" altLang="en-US" sz="2800">
                <a:latin typeface="Arial" charset="0"/>
                <a:ea typeface="ＭＳ Ｐゴシック" charset="0"/>
              </a:rPr>
              <a:t>’</a:t>
            </a:r>
            <a:r>
              <a:rPr lang="en-US" altLang="ja-JP" sz="2800">
                <a:latin typeface="Tahoma" charset="0"/>
                <a:ea typeface="ＭＳ Ｐゴシック" charset="0"/>
              </a:rPr>
              <a:t>t skimp on the research</a:t>
            </a:r>
          </a:p>
          <a:p>
            <a:pPr>
              <a:buClr>
                <a:srgbClr val="FFCC00"/>
              </a:buClr>
            </a:pPr>
            <a:r>
              <a:rPr lang="en-US" sz="2800">
                <a:latin typeface="Tahoma" charset="0"/>
                <a:ea typeface="ＭＳ Ｐゴシック" charset="0"/>
              </a:rPr>
              <a:t>Discover as much about the audience and speaking environment as you can</a:t>
            </a:r>
          </a:p>
          <a:p>
            <a:pPr>
              <a:buClr>
                <a:srgbClr val="FFCC00"/>
              </a:buClr>
            </a:pPr>
            <a:r>
              <a:rPr lang="en-US" sz="2800">
                <a:latin typeface="Tahoma" charset="0"/>
                <a:ea typeface="ＭＳ Ｐゴシック" charset="0"/>
              </a:rPr>
              <a:t>Rehearse the delivery of your speech </a:t>
            </a:r>
          </a:p>
        </p:txBody>
      </p:sp>
      <p:graphicFrame>
        <p:nvGraphicFramePr>
          <p:cNvPr id="21508" name="Object 4"/>
          <p:cNvGraphicFramePr>
            <a:graphicFrameLocks noGrp="1" noChangeAspect="1"/>
          </p:cNvGraphicFramePr>
          <p:nvPr>
            <p:ph type="clipArt" sz="half" idx="2"/>
          </p:nvPr>
        </p:nvGraphicFramePr>
        <p:xfrm>
          <a:off x="6108700" y="3402013"/>
          <a:ext cx="1039813" cy="1139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29" name="Clip" r:id="rId3" imgW="1040269" imgH="1140223" progId="MS_ClipArt_Gallery.2">
                  <p:embed/>
                </p:oleObj>
              </mc:Choice>
              <mc:Fallback>
                <p:oleObj name="Clip" r:id="rId3" imgW="1040269" imgH="1140223" progId="MS_ClipArt_Gallery.2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08700" y="3402013"/>
                        <a:ext cx="1039813" cy="1139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5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5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7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8686800" cy="1143000"/>
          </a:xfrm>
        </p:spPr>
        <p:txBody>
          <a:bodyPr>
            <a:normAutofit fontScale="90000"/>
          </a:bodyPr>
          <a:lstStyle/>
          <a:p>
            <a:pPr>
              <a:lnSpc>
                <a:spcPct val="125000"/>
              </a:lnSpc>
            </a:pPr>
            <a:r>
              <a:rPr lang="en-US" sz="2200" i="1" dirty="0">
                <a:latin typeface="Arial Black" charset="0"/>
                <a:ea typeface="ＭＳ Ｐゴシック" charset="0"/>
              </a:rPr>
              <a:t>Strategies for Getting Started With Confidence</a:t>
            </a:r>
            <a:r>
              <a:rPr lang="en-US" sz="2400" i="1" dirty="0">
                <a:latin typeface="Arial Black" charset="0"/>
                <a:ea typeface="ＭＳ Ｐゴシック" charset="0"/>
              </a:rPr>
              <a:t>:</a:t>
            </a:r>
            <a:r>
              <a:rPr lang="en-US" sz="3600" dirty="0">
                <a:latin typeface="Arial Black" charset="0"/>
                <a:ea typeface="ＭＳ Ｐゴシック" charset="0"/>
              </a:rPr>
              <a:t> </a:t>
            </a:r>
            <a:br>
              <a:rPr lang="en-US" sz="3600" dirty="0">
                <a:latin typeface="Arial Black" charset="0"/>
                <a:ea typeface="ＭＳ Ｐゴシック" charset="0"/>
              </a:rPr>
            </a:br>
            <a:r>
              <a:rPr lang="en-US" sz="3600" dirty="0">
                <a:latin typeface="Arial Black" charset="0"/>
                <a:ea typeface="ＭＳ Ｐゴシック" charset="0"/>
              </a:rPr>
              <a:t>Modify Thoughts And Attitudes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Clr>
                <a:srgbClr val="FFCC00"/>
              </a:buClr>
            </a:pPr>
            <a:r>
              <a:rPr lang="en-US" sz="3200" dirty="0">
                <a:latin typeface="Tahoma" charset="0"/>
                <a:ea typeface="ＭＳ Ｐゴシック" charset="0"/>
              </a:rPr>
              <a:t>Regard your speech as a valuable, worthwhile, and challenging activity</a:t>
            </a:r>
          </a:p>
          <a:p>
            <a:pPr>
              <a:buClr>
                <a:srgbClr val="FFCC00"/>
              </a:buClr>
            </a:pPr>
            <a:r>
              <a:rPr lang="en-US" sz="3200" dirty="0">
                <a:latin typeface="Tahoma" charset="0"/>
                <a:ea typeface="ＭＳ Ｐゴシック" charset="0"/>
              </a:rPr>
              <a:t>Remind yourself why public speaking is helpful personally, socially, and professionally </a:t>
            </a:r>
          </a:p>
          <a:p>
            <a:pPr>
              <a:buClr>
                <a:srgbClr val="FFCC00"/>
              </a:buClr>
            </a:pPr>
            <a:r>
              <a:rPr lang="en-US" sz="3200" dirty="0">
                <a:latin typeface="Tahoma" charset="0"/>
                <a:ea typeface="ＭＳ Ｐゴシック" charset="0"/>
              </a:rPr>
              <a:t>View public speaking as an opportunity, not a threat.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45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45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5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0"/>
            <a:ext cx="8458200" cy="1143000"/>
          </a:xfrm>
        </p:spPr>
        <p:txBody>
          <a:bodyPr>
            <a:normAutofit fontScale="90000"/>
          </a:bodyPr>
          <a:lstStyle/>
          <a:p>
            <a:pPr>
              <a:lnSpc>
                <a:spcPct val="125000"/>
              </a:lnSpc>
            </a:pPr>
            <a:r>
              <a:rPr lang="en-US" sz="2200" i="1" dirty="0">
                <a:latin typeface="Arial Black" charset="0"/>
                <a:ea typeface="ＭＳ Ｐゴシック" charset="0"/>
              </a:rPr>
              <a:t>Strategies for Getting Started With Confidence</a:t>
            </a:r>
            <a:r>
              <a:rPr lang="en-US" sz="2400" i="1" dirty="0">
                <a:latin typeface="Arial Black" charset="0"/>
                <a:ea typeface="ＭＳ Ｐゴシック" charset="0"/>
              </a:rPr>
              <a:t>:</a:t>
            </a:r>
            <a:r>
              <a:rPr lang="en-US" sz="3600" dirty="0">
                <a:latin typeface="Arial Black" charset="0"/>
                <a:ea typeface="ＭＳ Ｐゴシック" charset="0"/>
              </a:rPr>
              <a:t> </a:t>
            </a:r>
            <a:br>
              <a:rPr lang="en-US" sz="3600" dirty="0">
                <a:latin typeface="Arial Black" charset="0"/>
                <a:ea typeface="ＭＳ Ｐゴシック" charset="0"/>
              </a:rPr>
            </a:br>
            <a:r>
              <a:rPr lang="en-US" sz="3600" dirty="0">
                <a:latin typeface="Arial Black" charset="0"/>
                <a:ea typeface="ＭＳ Ｐゴシック" charset="0"/>
              </a:rPr>
              <a:t>Visualize Success</a:t>
            </a:r>
            <a:endParaRPr lang="en-US" dirty="0">
              <a:latin typeface="Arial Black" charset="0"/>
              <a:ea typeface="ＭＳ Ｐゴシック" charset="0"/>
            </a:endParaRPr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>
            <a:noAutofit/>
          </a:bodyPr>
          <a:lstStyle/>
          <a:p>
            <a:pPr>
              <a:buClr>
                <a:srgbClr val="FFCC00"/>
              </a:buClr>
            </a:pPr>
            <a:r>
              <a:rPr lang="en-US" sz="3200" dirty="0">
                <a:latin typeface="Tahoma" charset="0"/>
                <a:ea typeface="ＭＳ Ｐゴシック" charset="0"/>
              </a:rPr>
              <a:t>Visualizing</a:t>
            </a:r>
          </a:p>
          <a:p>
            <a:pPr lvl="1">
              <a:buClr>
                <a:srgbClr val="FFCC00"/>
              </a:buClr>
              <a:buFont typeface="Monotype Sorts" charset="0"/>
              <a:buChar char="z"/>
            </a:pPr>
            <a:r>
              <a:rPr lang="en-US" sz="3200" dirty="0">
                <a:latin typeface="Tahoma" charset="0"/>
                <a:ea typeface="ＭＳ Ｐゴシック" charset="0"/>
              </a:rPr>
              <a:t>In the public speaking context, a process of mentally seeing oneself give a successful speech</a:t>
            </a:r>
          </a:p>
        </p:txBody>
      </p:sp>
      <p:graphicFrame>
        <p:nvGraphicFramePr>
          <p:cNvPr id="36867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3136900" y="4048125"/>
          <a:ext cx="2817813" cy="200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77" name="Clip" r:id="rId3" imgW="4000096" imgH="2853057" progId="MS_ClipArt_Gallery.2">
                  <p:embed/>
                </p:oleObj>
              </mc:Choice>
              <mc:Fallback>
                <p:oleObj name="Clip" r:id="rId3" imgW="4000096" imgH="2853057" progId="MS_ClipArt_Gallery.2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6900" y="4048125"/>
                        <a:ext cx="2817813" cy="2009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65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65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3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/>
          <p:cNvSpPr>
            <a:spLocks noGrp="1" noChangeArrowheads="1"/>
          </p:cNvSpPr>
          <p:nvPr>
            <p:ph type="title"/>
          </p:nvPr>
        </p:nvSpPr>
        <p:spPr>
          <a:xfrm>
            <a:off x="406400" y="228600"/>
            <a:ext cx="8280400" cy="1143000"/>
          </a:xfrm>
        </p:spPr>
        <p:txBody>
          <a:bodyPr>
            <a:normAutofit fontScale="90000"/>
          </a:bodyPr>
          <a:lstStyle/>
          <a:p>
            <a:pPr>
              <a:lnSpc>
                <a:spcPct val="125000"/>
              </a:lnSpc>
            </a:pPr>
            <a:r>
              <a:rPr lang="en-US" sz="2200" i="1" dirty="0">
                <a:latin typeface="Arial Black" charset="0"/>
                <a:ea typeface="ＭＳ Ｐゴシック" charset="0"/>
              </a:rPr>
              <a:t>Strategies for Getting Started With Confidence:</a:t>
            </a:r>
            <a:r>
              <a:rPr lang="en-US" sz="2200" dirty="0">
                <a:latin typeface="Arial Black" charset="0"/>
                <a:ea typeface="ＭＳ Ｐゴシック" charset="0"/>
              </a:rPr>
              <a:t> </a:t>
            </a:r>
            <a:br>
              <a:rPr lang="en-US" sz="3600" dirty="0">
                <a:latin typeface="Arial Black" charset="0"/>
                <a:ea typeface="ＭＳ Ｐゴシック" charset="0"/>
              </a:rPr>
            </a:br>
            <a:r>
              <a:rPr lang="en-US" sz="3600" dirty="0">
                <a:latin typeface="Arial Black" charset="0"/>
                <a:ea typeface="ＭＳ Ｐゴシック" charset="0"/>
              </a:rPr>
              <a:t>The Wave</a:t>
            </a:r>
            <a:endParaRPr lang="en-US" dirty="0">
              <a:latin typeface="Arial Black" charset="0"/>
              <a:ea typeface="ＭＳ Ｐゴシック" charset="0"/>
            </a:endParaRPr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>
            <a:normAutofit/>
          </a:bodyPr>
          <a:lstStyle/>
          <a:p>
            <a:pPr>
              <a:buClr>
                <a:srgbClr val="FFCC00"/>
              </a:buClr>
            </a:pPr>
            <a:r>
              <a:rPr lang="en-US" sz="2800">
                <a:latin typeface="Tahoma" charset="0"/>
                <a:ea typeface="ＭＳ Ｐゴシック" charset="0"/>
              </a:rPr>
              <a:t>Under stress, breathing and speaking can get uncoordinated.</a:t>
            </a:r>
          </a:p>
          <a:p>
            <a:pPr>
              <a:buClr>
                <a:srgbClr val="FFCC00"/>
              </a:buClr>
            </a:pPr>
            <a:r>
              <a:rPr lang="en-US" sz="2800">
                <a:latin typeface="Tahoma" charset="0"/>
                <a:ea typeface="ＭＳ Ｐゴシック" charset="0"/>
              </a:rPr>
              <a:t>To coordinate breathing and speaking, begin speaking at the crest of the wave</a:t>
            </a:r>
          </a:p>
        </p:txBody>
      </p:sp>
      <p:graphicFrame>
        <p:nvGraphicFramePr>
          <p:cNvPr id="38915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2124075" y="4048125"/>
          <a:ext cx="4845050" cy="200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25" name="CorelPhotoPaint.Image.8" r:id="rId3" imgW="5879365" imgH="2438095" progId="CorelPhotoPaint.Image.8">
                  <p:embed/>
                </p:oleObj>
              </mc:Choice>
              <mc:Fallback>
                <p:oleObj name="CorelPhotoPaint.Image.8" r:id="rId3" imgW="5879365" imgH="2438095" progId="CorelPhotoPaint.Image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4048125"/>
                        <a:ext cx="4845050" cy="2009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27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27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07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8356600" cy="1143000"/>
          </a:xfrm>
        </p:spPr>
        <p:txBody>
          <a:bodyPr>
            <a:normAutofit fontScale="90000"/>
          </a:bodyPr>
          <a:lstStyle/>
          <a:p>
            <a:pPr>
              <a:lnSpc>
                <a:spcPct val="125000"/>
              </a:lnSpc>
            </a:pPr>
            <a:r>
              <a:rPr lang="en-US" sz="2200" i="1" dirty="0">
                <a:latin typeface="Arial Black" charset="0"/>
                <a:ea typeface="ＭＳ Ｐゴシック" charset="0"/>
              </a:rPr>
              <a:t>Strategies for Getting Started With Confidence</a:t>
            </a:r>
            <a:r>
              <a:rPr lang="en-US" sz="2400" i="1" dirty="0">
                <a:latin typeface="Arial Black" charset="0"/>
                <a:ea typeface="ＭＳ Ｐゴシック" charset="0"/>
              </a:rPr>
              <a:t>:</a:t>
            </a:r>
            <a:r>
              <a:rPr lang="en-US" sz="3600" dirty="0">
                <a:latin typeface="Arial Black" charset="0"/>
                <a:ea typeface="ＭＳ Ｐゴシック" charset="0"/>
              </a:rPr>
              <a:t> </a:t>
            </a:r>
            <a:br>
              <a:rPr lang="en-US" sz="3600" dirty="0">
                <a:latin typeface="Arial Black" charset="0"/>
                <a:ea typeface="ＭＳ Ｐゴシック" charset="0"/>
              </a:rPr>
            </a:br>
            <a:r>
              <a:rPr lang="en-US" sz="3600" dirty="0">
                <a:latin typeface="Arial Black" charset="0"/>
                <a:ea typeface="ＭＳ Ｐゴシック" charset="0"/>
              </a:rPr>
              <a:t>Natural Gestures</a:t>
            </a:r>
            <a:r>
              <a:rPr lang="en-US" dirty="0">
                <a:latin typeface="Arial" charset="0"/>
                <a:ea typeface="ＭＳ Ｐゴシック" charset="0"/>
              </a:rPr>
              <a:t> 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>
            <a:normAutofit/>
          </a:bodyPr>
          <a:lstStyle/>
          <a:p>
            <a:pPr>
              <a:buClr>
                <a:srgbClr val="FFCC00"/>
              </a:buClr>
            </a:pPr>
            <a:r>
              <a:rPr lang="en-US" sz="2800">
                <a:latin typeface="Tahoma" charset="0"/>
                <a:ea typeface="ＭＳ Ｐゴシック" charset="0"/>
              </a:rPr>
              <a:t>Practice some controlled, natural gestures that might be useful in enhancing your speech, such as holding up your index finger when starting your first main point</a:t>
            </a:r>
          </a:p>
        </p:txBody>
      </p:sp>
      <p:graphicFrame>
        <p:nvGraphicFramePr>
          <p:cNvPr id="39939" name="Object 4"/>
          <p:cNvGraphicFramePr>
            <a:graphicFrameLocks noGrp="1" noChangeAspect="1"/>
          </p:cNvGraphicFramePr>
          <p:nvPr>
            <p:ph type="clipArt" sz="half" idx="2"/>
          </p:nvPr>
        </p:nvGraphicFramePr>
        <p:xfrm>
          <a:off x="5765800" y="2346325"/>
          <a:ext cx="1725613" cy="325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49" name="Clip" r:id="rId3" imgW="1725405" imgH="3250482" progId="MS_ClipArt_Gallery.2">
                  <p:embed/>
                </p:oleObj>
              </mc:Choice>
              <mc:Fallback>
                <p:oleObj name="Clip" r:id="rId3" imgW="1725405" imgH="3250482" progId="MS_ClipArt_Gallery.2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65800" y="2346325"/>
                        <a:ext cx="1725613" cy="325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5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5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9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2"/>
          <p:cNvSpPr>
            <a:spLocks noGrp="1" noChangeArrowheads="1"/>
          </p:cNvSpPr>
          <p:nvPr>
            <p:ph type="title"/>
          </p:nvPr>
        </p:nvSpPr>
        <p:spPr>
          <a:xfrm>
            <a:off x="406400" y="228600"/>
            <a:ext cx="8737600" cy="1143000"/>
          </a:xfrm>
        </p:spPr>
        <p:txBody>
          <a:bodyPr>
            <a:normAutofit fontScale="90000"/>
          </a:bodyPr>
          <a:lstStyle/>
          <a:p>
            <a:pPr>
              <a:lnSpc>
                <a:spcPct val="125000"/>
              </a:lnSpc>
            </a:pPr>
            <a:r>
              <a:rPr lang="en-US" sz="2200" i="1" dirty="0">
                <a:latin typeface="Arial Black" charset="0"/>
                <a:ea typeface="ＭＳ Ｐゴシック" charset="0"/>
              </a:rPr>
              <a:t>Strategies for Getting Started With Confidence</a:t>
            </a:r>
            <a:r>
              <a:rPr lang="en-US" sz="2400" i="1" dirty="0">
                <a:latin typeface="Arial Black" charset="0"/>
                <a:ea typeface="ＭＳ Ｐゴシック" charset="0"/>
              </a:rPr>
              <a:t>:</a:t>
            </a:r>
            <a:r>
              <a:rPr lang="en-US" sz="3600" dirty="0">
                <a:latin typeface="Arial Black" charset="0"/>
                <a:ea typeface="ＭＳ Ｐゴシック" charset="0"/>
              </a:rPr>
              <a:t> </a:t>
            </a:r>
            <a:br>
              <a:rPr lang="en-US" dirty="0">
                <a:latin typeface="Arial" charset="0"/>
                <a:ea typeface="ＭＳ Ｐゴシック" charset="0"/>
              </a:rPr>
            </a:br>
            <a:r>
              <a:rPr lang="en-US" sz="3600" dirty="0">
                <a:latin typeface="Arial Black" charset="0"/>
                <a:ea typeface="ＭＳ Ｐゴシック" charset="0"/>
              </a:rPr>
              <a:t>Freedom to Walk</a:t>
            </a:r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1885950"/>
            <a:ext cx="4800600" cy="4171950"/>
          </a:xfrm>
        </p:spPr>
        <p:txBody>
          <a:bodyPr/>
          <a:lstStyle/>
          <a:p>
            <a:pPr>
              <a:buClr>
                <a:srgbClr val="FFCC00"/>
              </a:buClr>
            </a:pPr>
            <a:r>
              <a:rPr lang="en-US" sz="2800">
                <a:latin typeface="Tahoma" charset="0"/>
                <a:ea typeface="ＭＳ Ｐゴシック" charset="0"/>
              </a:rPr>
              <a:t>Walk around as you make some of your points, instead of standing behind the lectern the entire time</a:t>
            </a:r>
          </a:p>
          <a:p>
            <a:pPr lvl="2">
              <a:buClr>
                <a:srgbClr val="FFCC00"/>
              </a:buClr>
              <a:buFont typeface="Monotype Sorts" charset="0"/>
              <a:buChar char="z"/>
            </a:pPr>
            <a:r>
              <a:rPr lang="en-US" sz="2800">
                <a:latin typeface="Tahoma" charset="0"/>
                <a:ea typeface="ＭＳ Ｐゴシック" charset="0"/>
              </a:rPr>
              <a:t>Movement relieves tension, and it helps to hold the audiences attention</a:t>
            </a:r>
            <a:r>
              <a:rPr lang="en-US" sz="2000">
                <a:latin typeface="Tahoma" charset="0"/>
                <a:ea typeface="ＭＳ Ｐゴシック" charset="0"/>
              </a:rPr>
              <a:t> </a:t>
            </a:r>
          </a:p>
        </p:txBody>
      </p:sp>
      <p:graphicFrame>
        <p:nvGraphicFramePr>
          <p:cNvPr id="40963" name="Object 4"/>
          <p:cNvGraphicFramePr>
            <a:graphicFrameLocks noGrp="1" noChangeAspect="1"/>
          </p:cNvGraphicFramePr>
          <p:nvPr>
            <p:ph type="clipArt" sz="half" idx="2"/>
          </p:nvPr>
        </p:nvGraphicFramePr>
        <p:xfrm>
          <a:off x="5994400" y="2746375"/>
          <a:ext cx="1268413" cy="2449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73" name="Clip" r:id="rId3" imgW="1268413" imgH="2449513" progId="MS_ClipArt_Gallery.2">
                  <p:embed/>
                </p:oleObj>
              </mc:Choice>
              <mc:Fallback>
                <p:oleObj name="Clip" r:id="rId3" imgW="1268413" imgH="2449513" progId="MS_ClipArt_Gallery.2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94400" y="2746375"/>
                        <a:ext cx="1268413" cy="2449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47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47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5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1143000"/>
          </a:xfrm>
        </p:spPr>
        <p:txBody>
          <a:bodyPr>
            <a:normAutofit fontScale="90000"/>
          </a:bodyPr>
          <a:lstStyle/>
          <a:p>
            <a:r>
              <a:rPr lang="en-US" sz="2200" i="1" dirty="0">
                <a:latin typeface="Arial Black" charset="0"/>
                <a:ea typeface="ＭＳ Ｐゴシック" charset="0"/>
              </a:rPr>
              <a:t>Strategies for Getting Started With Confidence</a:t>
            </a:r>
            <a:r>
              <a:rPr lang="en-US" sz="2400" i="1" dirty="0">
                <a:latin typeface="Arial Black" charset="0"/>
                <a:ea typeface="ＭＳ Ｐゴシック" charset="0"/>
              </a:rPr>
              <a:t>:</a:t>
            </a:r>
            <a:r>
              <a:rPr lang="en-US" sz="3600" dirty="0">
                <a:latin typeface="Arial Black" charset="0"/>
                <a:ea typeface="ＭＳ Ｐゴシック" charset="0"/>
              </a:rPr>
              <a:t> </a:t>
            </a:r>
            <a:br>
              <a:rPr lang="en-US" sz="3600" dirty="0">
                <a:latin typeface="Arial Black" charset="0"/>
                <a:ea typeface="ＭＳ Ｐゴシック" charset="0"/>
              </a:rPr>
            </a:br>
            <a:r>
              <a:rPr lang="en-US" sz="3600" dirty="0">
                <a:latin typeface="Arial Black" charset="0"/>
                <a:ea typeface="ＭＳ Ｐゴシック" charset="0"/>
              </a:rPr>
              <a:t>Depersonalize The Speech</a:t>
            </a:r>
            <a:br>
              <a:rPr lang="en-US" sz="3600" dirty="0">
                <a:latin typeface="Arial Black" charset="0"/>
                <a:ea typeface="ＭＳ Ｐゴシック" charset="0"/>
              </a:rPr>
            </a:br>
            <a:r>
              <a:rPr lang="en-US" sz="3600" dirty="0">
                <a:latin typeface="Arial Black" charset="0"/>
                <a:ea typeface="ＭＳ Ｐゴシック" charset="0"/>
              </a:rPr>
              <a:t>Evaluation</a:t>
            </a:r>
          </a:p>
        </p:txBody>
      </p:sp>
      <p:sp>
        <p:nvSpPr>
          <p:cNvPr id="7987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828800"/>
            <a:ext cx="8305800" cy="4724400"/>
          </a:xfrm>
        </p:spPr>
        <p:txBody>
          <a:bodyPr>
            <a:normAutofit/>
          </a:bodyPr>
          <a:lstStyle/>
          <a:p>
            <a:pPr>
              <a:buClr>
                <a:srgbClr val="FFCC00"/>
              </a:buClr>
            </a:pPr>
            <a:r>
              <a:rPr lang="en-US" sz="3200" dirty="0">
                <a:latin typeface="Tahoma" charset="0"/>
                <a:ea typeface="ＭＳ Ｐゴシック" charset="0"/>
              </a:rPr>
              <a:t>Being evaluated is a necessary part of a speech class</a:t>
            </a:r>
          </a:p>
          <a:p>
            <a:pPr>
              <a:buClr>
                <a:srgbClr val="FFCC00"/>
              </a:buClr>
            </a:pPr>
            <a:r>
              <a:rPr lang="en-US" sz="3200" dirty="0">
                <a:latin typeface="Tahoma" charset="0"/>
                <a:ea typeface="ＭＳ Ｐゴシック" charset="0"/>
              </a:rPr>
              <a:t>Your concern as a speaker should be with your message, not yourself</a:t>
            </a:r>
          </a:p>
          <a:p>
            <a:pPr lvl="1">
              <a:buClr>
                <a:srgbClr val="FFCC00"/>
              </a:buClr>
              <a:buFont typeface="Monotype Sorts" charset="0"/>
              <a:buChar char="z"/>
            </a:pPr>
            <a:r>
              <a:rPr lang="en-US" sz="3200" dirty="0">
                <a:latin typeface="Tahoma" charset="0"/>
                <a:ea typeface="ＭＳ Ｐゴシック" charset="0"/>
              </a:rPr>
              <a:t>This will help to lessen your anxiety about presenting the speech</a:t>
            </a:r>
          </a:p>
          <a:p>
            <a:pPr>
              <a:buClr>
                <a:srgbClr val="FFCC00"/>
              </a:buClr>
            </a:pPr>
            <a:r>
              <a:rPr lang="en-US" sz="3200" dirty="0">
                <a:latin typeface="Tahoma" charset="0"/>
                <a:ea typeface="ＭＳ Ｐゴシック" charset="0"/>
              </a:rPr>
              <a:t>Think of your speech as a conversation instead of a performance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98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98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75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1143000"/>
          </a:xfrm>
        </p:spPr>
        <p:txBody>
          <a:bodyPr>
            <a:normAutofit fontScale="90000"/>
          </a:bodyPr>
          <a:lstStyle/>
          <a:p>
            <a:pPr>
              <a:lnSpc>
                <a:spcPct val="125000"/>
              </a:lnSpc>
            </a:pPr>
            <a:r>
              <a:rPr lang="en-US" sz="2200" i="1" dirty="0">
                <a:latin typeface="Arial Black" charset="0"/>
                <a:ea typeface="ＭＳ Ｐゴシック" charset="0"/>
              </a:rPr>
              <a:t>Strategies for Getting Started With Confidence</a:t>
            </a:r>
            <a:r>
              <a:rPr lang="en-US" sz="2400" i="1" dirty="0">
                <a:latin typeface="Arial Black" charset="0"/>
                <a:ea typeface="ＭＳ Ｐゴシック" charset="0"/>
              </a:rPr>
              <a:t>:</a:t>
            </a:r>
            <a:r>
              <a:rPr lang="en-US" sz="3600" dirty="0">
                <a:latin typeface="Arial Black" charset="0"/>
                <a:ea typeface="ＭＳ Ｐゴシック" charset="0"/>
              </a:rPr>
              <a:t> </a:t>
            </a:r>
            <a:br>
              <a:rPr lang="en-US" sz="3600" dirty="0">
                <a:latin typeface="Arial Black" charset="0"/>
                <a:ea typeface="ＭＳ Ｐゴシック" charset="0"/>
              </a:rPr>
            </a:br>
            <a:r>
              <a:rPr lang="en-US" sz="3600" dirty="0">
                <a:latin typeface="Arial Black" charset="0"/>
                <a:ea typeface="ＭＳ Ｐゴシック" charset="0"/>
              </a:rPr>
              <a:t>Seek Pleasure in the Occasion</a:t>
            </a:r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>
            <a:normAutofit/>
          </a:bodyPr>
          <a:lstStyle/>
          <a:p>
            <a:pPr>
              <a:buClr>
                <a:srgbClr val="FFCC00"/>
              </a:buClr>
            </a:pPr>
            <a:r>
              <a:rPr lang="en-US" sz="2800">
                <a:latin typeface="Tahoma" charset="0"/>
                <a:ea typeface="ＭＳ Ｐゴシック" charset="0"/>
              </a:rPr>
              <a:t>Giving a speech can be satisfying and empowering.</a:t>
            </a:r>
          </a:p>
          <a:p>
            <a:pPr>
              <a:buClr>
                <a:srgbClr val="FFCC00"/>
              </a:buClr>
            </a:pPr>
            <a:r>
              <a:rPr lang="en-US" sz="2800">
                <a:latin typeface="Tahoma" charset="0"/>
                <a:ea typeface="ＭＳ Ｐゴシック" charset="0"/>
              </a:rPr>
              <a:t>Depending on your goal, public speaking enables you to inform, persuade, entertain, or even console people.</a:t>
            </a:r>
          </a:p>
        </p:txBody>
      </p:sp>
      <p:graphicFrame>
        <p:nvGraphicFramePr>
          <p:cNvPr id="43011" name="Object 5"/>
          <p:cNvGraphicFramePr>
            <a:graphicFrameLocks noGrp="1" noChangeAspect="1"/>
          </p:cNvGraphicFramePr>
          <p:nvPr>
            <p:ph type="clipArt" sz="half" idx="2"/>
          </p:nvPr>
        </p:nvGraphicFramePr>
        <p:xfrm>
          <a:off x="5478463" y="2897188"/>
          <a:ext cx="2300287" cy="214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21" name="Clip" r:id="rId3" imgW="2299970" imgH="2149475" progId="MS_ClipArt_Gallery.2">
                  <p:embed/>
                </p:oleObj>
              </mc:Choice>
              <mc:Fallback>
                <p:oleObj name="Clip" r:id="rId3" imgW="2299970" imgH="2149475" progId="MS_ClipArt_Gallery.2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78463" y="2897188"/>
                        <a:ext cx="2300287" cy="2149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19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19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23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25000"/>
              </a:lnSpc>
            </a:pPr>
            <a:r>
              <a:rPr lang="en-US" sz="2400" i="1">
                <a:latin typeface="Arial Black" charset="0"/>
                <a:ea typeface="ＭＳ Ｐゴシック" charset="0"/>
              </a:rPr>
              <a:t>Giving it a Try:</a:t>
            </a:r>
            <a:br>
              <a:rPr lang="en-US" sz="3600">
                <a:latin typeface="Arial Black" charset="0"/>
                <a:ea typeface="ＭＳ Ｐゴシック" charset="0"/>
              </a:rPr>
            </a:br>
            <a:r>
              <a:rPr lang="en-US" sz="3600">
                <a:latin typeface="Arial Black" charset="0"/>
                <a:ea typeface="ＭＳ Ｐゴシック" charset="0"/>
              </a:rPr>
              <a:t>Select a Topic</a:t>
            </a:r>
            <a:endParaRPr lang="en-US">
              <a:latin typeface="Arial Black" charset="0"/>
              <a:ea typeface="ＭＳ Ｐゴシック" charset="0"/>
            </a:endParaRPr>
          </a:p>
        </p:txBody>
      </p:sp>
      <p:sp>
        <p:nvSpPr>
          <p:cNvPr id="8499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Clr>
                <a:srgbClr val="FFCC00"/>
              </a:buClr>
            </a:pPr>
            <a:r>
              <a:rPr lang="en-US" sz="3200" dirty="0">
                <a:latin typeface="Tahoma" charset="0"/>
                <a:ea typeface="ＭＳ Ｐゴシック" charset="0"/>
              </a:rPr>
              <a:t>Unless the topic is assigned, let your interests and your passions be your guide</a:t>
            </a:r>
          </a:p>
          <a:p>
            <a:pPr lvl="1">
              <a:buClr>
                <a:srgbClr val="FFCC00"/>
              </a:buClr>
              <a:buFont typeface="Monotype Sorts" charset="0"/>
              <a:buChar char="z"/>
            </a:pPr>
            <a:r>
              <a:rPr lang="en-US" sz="3200" dirty="0">
                <a:latin typeface="Tahoma" charset="0"/>
                <a:ea typeface="ＭＳ Ｐゴシック" charset="0"/>
              </a:rPr>
              <a:t>Personal interest in the topic ensures you will bring enthusiasm to the project</a:t>
            </a:r>
          </a:p>
          <a:p>
            <a:pPr lvl="1">
              <a:buClr>
                <a:srgbClr val="FFCC00"/>
              </a:buClr>
              <a:buFont typeface="Monotype Sorts" charset="0"/>
              <a:buChar char="z"/>
            </a:pPr>
            <a:r>
              <a:rPr lang="en-US" sz="3200" dirty="0">
                <a:latin typeface="Tahoma" charset="0"/>
                <a:ea typeface="ＭＳ Ｐゴシック" charset="0"/>
              </a:rPr>
              <a:t>Be certain your topic will be of interest to your audience as well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49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49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995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25000"/>
              </a:lnSpc>
            </a:pPr>
            <a:r>
              <a:rPr lang="en-US" sz="2400" i="1">
                <a:latin typeface="Arial Black" charset="0"/>
                <a:ea typeface="ＭＳ Ｐゴシック" charset="0"/>
              </a:rPr>
              <a:t>Giving it a Try:</a:t>
            </a:r>
            <a:br>
              <a:rPr lang="en-US" sz="3600">
                <a:latin typeface="Arial Black" charset="0"/>
                <a:ea typeface="ＭＳ Ｐゴシック" charset="0"/>
              </a:rPr>
            </a:br>
            <a:r>
              <a:rPr lang="en-US" sz="3600">
                <a:latin typeface="Arial Black" charset="0"/>
                <a:ea typeface="ＭＳ Ｐゴシック" charset="0"/>
              </a:rPr>
              <a:t>Analyze the Audience</a:t>
            </a:r>
            <a:endParaRPr lang="en-US">
              <a:latin typeface="Arial Black" charset="0"/>
              <a:ea typeface="ＭＳ Ｐゴシック" charset="0"/>
            </a:endParaRPr>
          </a:p>
        </p:txBody>
      </p:sp>
      <p:sp>
        <p:nvSpPr>
          <p:cNvPr id="86019" name="Rectangle 3"/>
          <p:cNvSpPr>
            <a:spLocks noGrp="1" noChangeArrowheads="1"/>
          </p:cNvSpPr>
          <p:nvPr>
            <p:ph idx="1"/>
          </p:nvPr>
        </p:nvSpPr>
        <p:spPr>
          <a:xfrm>
            <a:off x="0" y="1885950"/>
            <a:ext cx="9372600" cy="4667250"/>
          </a:xfrm>
        </p:spPr>
        <p:txBody>
          <a:bodyPr>
            <a:normAutofit/>
          </a:bodyPr>
          <a:lstStyle/>
          <a:p>
            <a:pPr>
              <a:buClr>
                <a:srgbClr val="FFCC00"/>
              </a:buClr>
            </a:pPr>
            <a:r>
              <a:rPr lang="en-US" sz="3200" dirty="0">
                <a:latin typeface="Tahoma" charset="0"/>
                <a:ea typeface="ＭＳ Ｐゴシック" charset="0"/>
              </a:rPr>
              <a:t>Audiences have personalities, interests, and ambitions, all of which affect their receptiveness</a:t>
            </a:r>
          </a:p>
          <a:p>
            <a:pPr>
              <a:buClr>
                <a:srgbClr val="FFCC00"/>
              </a:buClr>
            </a:pPr>
            <a:r>
              <a:rPr lang="en-US" sz="3200" dirty="0">
                <a:latin typeface="Tahoma" charset="0"/>
                <a:ea typeface="ＭＳ Ｐゴシック" charset="0"/>
              </a:rPr>
              <a:t>Learn about the differences and similarities among members of your audience</a:t>
            </a:r>
          </a:p>
          <a:p>
            <a:pPr lvl="1">
              <a:buClr>
                <a:srgbClr val="FFCC00"/>
              </a:buClr>
              <a:buFont typeface="Monotype Sorts" charset="0"/>
              <a:buChar char="z"/>
            </a:pPr>
            <a:r>
              <a:rPr lang="en-US" sz="3200" dirty="0">
                <a:latin typeface="Tahoma" charset="0"/>
                <a:ea typeface="ＭＳ Ｐゴシック" charset="0"/>
              </a:rPr>
              <a:t>Begin with easy to identify demographic characteristics</a:t>
            </a:r>
          </a:p>
          <a:p>
            <a:pPr lvl="1">
              <a:buClr>
                <a:srgbClr val="FFCC00"/>
              </a:buClr>
              <a:buFont typeface="Monotype Sorts" charset="0"/>
              <a:buChar char="z"/>
            </a:pPr>
            <a:r>
              <a:rPr lang="en-US" sz="3200" dirty="0">
                <a:latin typeface="Tahoma" charset="0"/>
                <a:ea typeface="ＭＳ Ｐゴシック" charset="0"/>
              </a:rPr>
              <a:t>Next, consider how different people might </a:t>
            </a:r>
          </a:p>
          <a:p>
            <a:pPr marL="411480" lvl="1" indent="0">
              <a:buClr>
                <a:srgbClr val="FFCC00"/>
              </a:buClr>
              <a:buNone/>
            </a:pPr>
            <a:r>
              <a:rPr lang="en-US" sz="3200" dirty="0">
                <a:latin typeface="Tahoma" charset="0"/>
                <a:ea typeface="ＭＳ Ｐゴシック" charset="0"/>
              </a:rPr>
              <a:t>think or feel differently about your topic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60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60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19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25000"/>
              </a:lnSpc>
            </a:pPr>
            <a:r>
              <a:rPr lang="en-US" sz="2400" i="1">
                <a:latin typeface="Arial Black" charset="0"/>
                <a:ea typeface="ＭＳ Ｐゴシック" charset="0"/>
              </a:rPr>
              <a:t>Giving it a Try:</a:t>
            </a:r>
            <a:br>
              <a:rPr lang="en-US" sz="3600">
                <a:latin typeface="Arial Black" charset="0"/>
                <a:ea typeface="ＭＳ Ｐゴシック" charset="0"/>
              </a:rPr>
            </a:br>
            <a:r>
              <a:rPr lang="en-US" sz="3600">
                <a:latin typeface="Arial Black" charset="0"/>
                <a:ea typeface="ＭＳ Ｐゴシック" charset="0"/>
              </a:rPr>
              <a:t>State the Speech Purpose</a:t>
            </a:r>
            <a:endParaRPr lang="en-US">
              <a:latin typeface="Arial Black" charset="0"/>
              <a:ea typeface="ＭＳ Ｐゴシック" charset="0"/>
            </a:endParaRPr>
          </a:p>
        </p:txBody>
      </p:sp>
      <p:sp>
        <p:nvSpPr>
          <p:cNvPr id="8704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76400"/>
            <a:ext cx="8178800" cy="4724400"/>
          </a:xfrm>
        </p:spPr>
        <p:txBody>
          <a:bodyPr>
            <a:normAutofit/>
          </a:bodyPr>
          <a:lstStyle/>
          <a:p>
            <a:pPr>
              <a:buClr>
                <a:srgbClr val="FFCC00"/>
              </a:buClr>
            </a:pPr>
            <a:r>
              <a:rPr lang="en-US" sz="3200" dirty="0">
                <a:latin typeface="Tahoma" charset="0"/>
                <a:ea typeface="ＭＳ Ｐゴシック" charset="0"/>
              </a:rPr>
              <a:t>Once you have a topic, the next step is to decide what you wish to convey about it and why</a:t>
            </a:r>
          </a:p>
          <a:p>
            <a:pPr lvl="1">
              <a:buClr>
                <a:srgbClr val="FFCC00"/>
              </a:buClr>
              <a:buFont typeface="Monotype Sorts" charset="0"/>
              <a:buChar char="z"/>
            </a:pPr>
            <a:r>
              <a:rPr lang="en-US" sz="3200" dirty="0">
                <a:latin typeface="Tahoma" charset="0"/>
                <a:ea typeface="ＭＳ Ｐゴシック" charset="0"/>
              </a:rPr>
              <a:t>Is your general purpose to inform, persuade, or entertain?</a:t>
            </a:r>
          </a:p>
          <a:p>
            <a:pPr>
              <a:buClr>
                <a:srgbClr val="FFCC00"/>
              </a:buClr>
            </a:pPr>
            <a:r>
              <a:rPr lang="en-US" sz="3200" dirty="0">
                <a:latin typeface="Tahoma" charset="0"/>
                <a:ea typeface="ＭＳ Ｐゴシック" charset="0"/>
              </a:rPr>
              <a:t>Your speech should also have a specific purpose: a definite statement of what the speech will accomplish for the audience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70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70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043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7772400" cy="1143000"/>
          </a:xfrm>
        </p:spPr>
        <p:txBody>
          <a:bodyPr>
            <a:normAutofit fontScale="90000"/>
          </a:bodyPr>
          <a:lstStyle/>
          <a:p>
            <a:pPr>
              <a:lnSpc>
                <a:spcPct val="125000"/>
              </a:lnSpc>
            </a:pPr>
            <a:r>
              <a:rPr lang="en-US" sz="2400" i="1">
                <a:latin typeface="Arial Black" charset="0"/>
                <a:ea typeface="ＭＳ Ｐゴシック" charset="0"/>
              </a:rPr>
              <a:t>Giving it a Try:</a:t>
            </a:r>
            <a:br>
              <a:rPr lang="en-US" sz="3600">
                <a:latin typeface="Arial Black" charset="0"/>
                <a:ea typeface="ＭＳ Ｐゴシック" charset="0"/>
              </a:rPr>
            </a:br>
            <a:r>
              <a:rPr lang="en-US" sz="3600">
                <a:latin typeface="Arial Black" charset="0"/>
                <a:ea typeface="ＭＳ Ｐゴシック" charset="0"/>
              </a:rPr>
              <a:t>Develop the Main Points</a:t>
            </a:r>
          </a:p>
        </p:txBody>
      </p:sp>
      <p:sp>
        <p:nvSpPr>
          <p:cNvPr id="8806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752600"/>
            <a:ext cx="8458200" cy="4724400"/>
          </a:xfrm>
        </p:spPr>
        <p:txBody>
          <a:bodyPr>
            <a:noAutofit/>
          </a:bodyPr>
          <a:lstStyle/>
          <a:p>
            <a:pPr>
              <a:buClr>
                <a:srgbClr val="FFCC00"/>
              </a:buClr>
            </a:pPr>
            <a:r>
              <a:rPr lang="en-US" sz="3200" dirty="0">
                <a:latin typeface="Tahoma" charset="0"/>
                <a:ea typeface="ＭＳ Ｐゴシック" charset="0"/>
              </a:rPr>
              <a:t>Organize your speech around two or three main points</a:t>
            </a:r>
          </a:p>
          <a:p>
            <a:pPr lvl="1">
              <a:buClr>
                <a:srgbClr val="FFCC00"/>
              </a:buClr>
              <a:buFont typeface="Monotype Sorts" charset="0"/>
              <a:buChar char="z"/>
            </a:pPr>
            <a:r>
              <a:rPr lang="en-US" sz="3200" dirty="0">
                <a:latin typeface="Tahoma" charset="0"/>
                <a:ea typeface="ＭＳ Ｐゴシック" charset="0"/>
              </a:rPr>
              <a:t>In an informative speech, these are the primary pieces of knowledge</a:t>
            </a:r>
          </a:p>
          <a:p>
            <a:pPr lvl="1">
              <a:buClr>
                <a:srgbClr val="FFCC00"/>
              </a:buClr>
              <a:buFont typeface="Monotype Sorts" charset="0"/>
              <a:buChar char="z"/>
            </a:pPr>
            <a:r>
              <a:rPr lang="en-US" sz="3200" dirty="0">
                <a:latin typeface="Tahoma" charset="0"/>
                <a:ea typeface="ＭＳ Ｐゴシック" charset="0"/>
              </a:rPr>
              <a:t>In a persuasive speech, these would be the key points favoring your position</a:t>
            </a:r>
          </a:p>
          <a:p>
            <a:pPr>
              <a:buClr>
                <a:srgbClr val="FFCC00"/>
              </a:buClr>
            </a:pPr>
            <a:r>
              <a:rPr lang="en-US" sz="3200" dirty="0">
                <a:latin typeface="Tahoma" charset="0"/>
                <a:ea typeface="ＭＳ Ｐゴシック" charset="0"/>
              </a:rPr>
              <a:t>The main points should be clearly identifiable in the specific purpose of the speech.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80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80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67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2"/>
          <p:cNvSpPr>
            <a:spLocks noGrp="1" noChangeArrowheads="1"/>
          </p:cNvSpPr>
          <p:nvPr>
            <p:ph type="title"/>
          </p:nvPr>
        </p:nvSpPr>
        <p:spPr>
          <a:xfrm>
            <a:off x="406400" y="228600"/>
            <a:ext cx="8509000" cy="1143000"/>
          </a:xfrm>
        </p:spPr>
        <p:txBody>
          <a:bodyPr>
            <a:normAutofit fontScale="90000"/>
          </a:bodyPr>
          <a:lstStyle/>
          <a:p>
            <a:pPr>
              <a:lnSpc>
                <a:spcPct val="125000"/>
              </a:lnSpc>
            </a:pPr>
            <a:r>
              <a:rPr lang="en-US" sz="2400" i="1">
                <a:latin typeface="Arial Black" charset="0"/>
                <a:ea typeface="ＭＳ Ｐゴシック" charset="0"/>
              </a:rPr>
              <a:t>Giving it a Try:</a:t>
            </a:r>
            <a:br>
              <a:rPr lang="en-US" sz="3600">
                <a:latin typeface="Arial Black" charset="0"/>
                <a:ea typeface="ＭＳ Ｐゴシック" charset="0"/>
              </a:rPr>
            </a:br>
            <a:r>
              <a:rPr lang="en-US" sz="3600">
                <a:latin typeface="Arial Black" charset="0"/>
                <a:ea typeface="ＭＳ Ｐゴシック" charset="0"/>
              </a:rPr>
              <a:t>Gather Supporting Materials</a:t>
            </a:r>
          </a:p>
        </p:txBody>
      </p:sp>
      <p:sp>
        <p:nvSpPr>
          <p:cNvPr id="8909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885950"/>
            <a:ext cx="8458200" cy="4171950"/>
          </a:xfrm>
        </p:spPr>
        <p:txBody>
          <a:bodyPr>
            <a:normAutofit/>
          </a:bodyPr>
          <a:lstStyle/>
          <a:p>
            <a:pPr>
              <a:buClr>
                <a:srgbClr val="FFCC00"/>
              </a:buClr>
            </a:pPr>
            <a:r>
              <a:rPr lang="en-US" sz="3200" dirty="0">
                <a:latin typeface="Tahoma" charset="0"/>
                <a:ea typeface="ＭＳ Ｐゴシック" charset="0"/>
              </a:rPr>
              <a:t>Unless your speech is about a very compelling personal experience, plan on researching your topic for supporting materials</a:t>
            </a:r>
          </a:p>
          <a:p>
            <a:pPr>
              <a:buClr>
                <a:srgbClr val="FFCC00"/>
              </a:buClr>
            </a:pPr>
            <a:r>
              <a:rPr lang="en-US" sz="3200" dirty="0">
                <a:latin typeface="Tahoma" charset="0"/>
                <a:ea typeface="ＭＳ Ｐゴシック" charset="0"/>
              </a:rPr>
              <a:t>Supporting material lends credibility to your message by signifying that your ideas are consistent with other people</a:t>
            </a:r>
            <a:r>
              <a:rPr lang="ja-JP" altLang="en-US" sz="3200" dirty="0">
                <a:latin typeface="Arial" charset="0"/>
                <a:ea typeface="ＭＳ Ｐゴシック" charset="0"/>
              </a:rPr>
              <a:t>’</a:t>
            </a:r>
            <a:r>
              <a:rPr lang="en-US" altLang="ja-JP" sz="3200" dirty="0">
                <a:latin typeface="Tahoma" charset="0"/>
                <a:ea typeface="ＭＳ Ｐゴシック" charset="0"/>
              </a:rPr>
              <a:t>s ideas and actual events.</a:t>
            </a:r>
            <a:endParaRPr lang="en-US" sz="3200" dirty="0">
              <a:latin typeface="Tahoma" charset="0"/>
              <a:ea typeface="ＭＳ Ｐゴシック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90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90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091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9144000" cy="1143000"/>
          </a:xfrm>
        </p:spPr>
        <p:txBody>
          <a:bodyPr>
            <a:normAutofit fontScale="90000"/>
          </a:bodyPr>
          <a:lstStyle/>
          <a:p>
            <a:pPr>
              <a:lnSpc>
                <a:spcPct val="125000"/>
              </a:lnSpc>
            </a:pPr>
            <a:r>
              <a:rPr lang="en-US" sz="2400" i="1">
                <a:latin typeface="Arial Black" charset="0"/>
                <a:ea typeface="ＭＳ Ｐゴシック" charset="0"/>
              </a:rPr>
              <a:t>Giving it a Try:</a:t>
            </a:r>
            <a:br>
              <a:rPr lang="en-US" sz="3600">
                <a:latin typeface="Arial Black" charset="0"/>
                <a:ea typeface="ＭＳ Ｐゴシック" charset="0"/>
              </a:rPr>
            </a:br>
            <a:r>
              <a:rPr lang="en-US" sz="3600">
                <a:latin typeface="Arial Black" charset="0"/>
                <a:ea typeface="ＭＳ Ｐゴシック" charset="0"/>
              </a:rPr>
              <a:t>Practice Delivering the Speech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28600" y="1885950"/>
            <a:ext cx="7467600" cy="4171950"/>
          </a:xfrm>
        </p:spPr>
        <p:txBody>
          <a:bodyPr>
            <a:noAutofit/>
          </a:bodyPr>
          <a:lstStyle/>
          <a:p>
            <a:pPr>
              <a:buClr>
                <a:srgbClr val="FFCC00"/>
              </a:buClr>
            </a:pPr>
            <a:r>
              <a:rPr lang="en-US" sz="3200" dirty="0">
                <a:latin typeface="Tahoma" charset="0"/>
                <a:ea typeface="ＭＳ Ｐゴシック" charset="0"/>
              </a:rPr>
              <a:t>The success of your first speech depends on how well you prepare and practice</a:t>
            </a:r>
          </a:p>
          <a:p>
            <a:pPr lvl="1">
              <a:buClr>
                <a:srgbClr val="FFCC00"/>
              </a:buClr>
              <a:buFont typeface="Monotype Sorts" charset="0"/>
              <a:buChar char="z"/>
            </a:pPr>
            <a:r>
              <a:rPr lang="en-US" sz="3200" dirty="0">
                <a:latin typeface="Tahoma" charset="0"/>
                <a:ea typeface="ＭＳ Ｐゴシック" charset="0"/>
              </a:rPr>
              <a:t>Practice your speech at least six times</a:t>
            </a:r>
          </a:p>
          <a:p>
            <a:pPr lvl="1">
              <a:buClr>
                <a:srgbClr val="FFCC00"/>
              </a:buClr>
              <a:buFont typeface="Monotype Sorts" charset="0"/>
              <a:buChar char="z"/>
            </a:pPr>
            <a:r>
              <a:rPr lang="en-US" sz="3200" dirty="0">
                <a:latin typeface="Tahoma" charset="0"/>
                <a:ea typeface="ＭＳ Ｐゴシック" charset="0"/>
              </a:rPr>
              <a:t>Use a Recorder</a:t>
            </a:r>
          </a:p>
          <a:p>
            <a:pPr lvl="1">
              <a:buClr>
                <a:srgbClr val="FFCC00"/>
              </a:buClr>
              <a:buFont typeface="Monotype Sorts" charset="0"/>
              <a:buChar char="z"/>
            </a:pPr>
            <a:r>
              <a:rPr lang="en-US" sz="3200" dirty="0">
                <a:latin typeface="Tahoma" charset="0"/>
                <a:ea typeface="ＭＳ Ｐゴシック" charset="0"/>
              </a:rPr>
              <a:t>Get motivated, be excited, and have fun with it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3" grpId="0" autoUpdateAnimBg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pothecary">
  <a:themeElements>
    <a:clrScheme name="Apothecary">
      <a:dk1>
        <a:sysClr val="windowText" lastClr="000000"/>
      </a:dk1>
      <a:lt1>
        <a:sysClr val="window" lastClr="FFFFFF"/>
      </a:lt1>
      <a:dk2>
        <a:srgbClr val="564B3C"/>
      </a:dk2>
      <a:lt2>
        <a:srgbClr val="ECEDD1"/>
      </a:lt2>
      <a:accent1>
        <a:srgbClr val="93A299"/>
      </a:accent1>
      <a:accent2>
        <a:srgbClr val="CF543F"/>
      </a:accent2>
      <a:accent3>
        <a:srgbClr val="B5AE53"/>
      </a:accent3>
      <a:accent4>
        <a:srgbClr val="848058"/>
      </a:accent4>
      <a:accent5>
        <a:srgbClr val="E8B54D"/>
      </a:accent5>
      <a:accent6>
        <a:srgbClr val="786C71"/>
      </a:accent6>
      <a:hlink>
        <a:srgbClr val="CCCC00"/>
      </a:hlink>
      <a:folHlink>
        <a:srgbClr val="B2B2B2"/>
      </a:folHlink>
    </a:clrScheme>
    <a:fontScheme name="Apothecary">
      <a:majorFont>
        <a:latin typeface="Book Antiqua"/>
        <a:ea typeface=""/>
        <a:cs typeface=""/>
        <a:font script="Jpan" typeface="ＭＳ Ｐ明朝"/>
        <a:font script="Hang" typeface="HY견명조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견명조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pothecary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100000"/>
              </a:schemeClr>
            </a:gs>
            <a:gs pos="68000">
              <a:schemeClr val="phClr">
                <a:tint val="77000"/>
                <a:satMod val="100000"/>
              </a:schemeClr>
            </a:gs>
            <a:gs pos="81000">
              <a:schemeClr val="phClr">
                <a:tint val="79000"/>
                <a:satMod val="100000"/>
              </a:schemeClr>
            </a:gs>
            <a:gs pos="86000">
              <a:schemeClr val="phClr">
                <a:tint val="73000"/>
                <a:satMod val="100000"/>
              </a:schemeClr>
            </a:gs>
            <a:gs pos="100000">
              <a:schemeClr val="phClr">
                <a:tint val="35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73000"/>
                <a:shade val="100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tint val="100000"/>
                <a:shade val="57000"/>
                <a:satMod val="120000"/>
              </a:schemeClr>
            </a:gs>
            <a:gs pos="80000">
              <a:schemeClr val="phClr">
                <a:tint val="100000"/>
                <a:shade val="56000"/>
                <a:satMod val="145000"/>
              </a:schemeClr>
            </a:gs>
            <a:gs pos="88000">
              <a:schemeClr val="phClr">
                <a:tint val="100000"/>
                <a:shade val="63000"/>
                <a:satMod val="160000"/>
              </a:schemeClr>
            </a:gs>
            <a:gs pos="100000">
              <a:schemeClr val="phClr">
                <a:tint val="99000"/>
                <a:shade val="100000"/>
                <a:satMod val="155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glow" dir="tl">
              <a:rot lat="0" lon="0" rev="1800000"/>
            </a:lightRig>
          </a:scene3d>
          <a:sp3d contourW="10160" prstMaterial="dkEdge">
            <a:bevelT w="0" h="0" prst="angle"/>
            <a:contourClr>
              <a:schemeClr val="phClr">
                <a:shade val="30000"/>
                <a:satMod val="150000"/>
              </a:schemeClr>
            </a:contourClr>
          </a:sp3d>
        </a:effectStyle>
        <a:effectStyle>
          <a:effectLst>
            <a:glow rad="50800">
              <a:schemeClr val="phClr">
                <a:tint val="68000"/>
                <a:shade val="93000"/>
                <a:alpha val="37000"/>
                <a:satMod val="25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1800000"/>
            </a:lightRig>
          </a:scene3d>
          <a:sp3d contourW="10160" prstMaterial="dkEdge">
            <a:bevelT w="20320" h="19050" prst="angle"/>
            <a:contourClr>
              <a:schemeClr val="phClr">
                <a:shade val="3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3000"/>
            <a:satMod val="14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atMod val="170000"/>
              </a:schemeClr>
              <a:schemeClr val="phClr">
                <a:shade val="70000"/>
                <a:satMod val="13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Apothecary.thmx</Template>
  <TotalTime>301</TotalTime>
  <Words>930</Words>
  <Application>Microsoft Office PowerPoint</Application>
  <PresentationFormat>On-screen Show (4:3)</PresentationFormat>
  <Paragraphs>103</Paragraphs>
  <Slides>27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27</vt:i4>
      </vt:variant>
    </vt:vector>
  </HeadingPairs>
  <TitlesOfParts>
    <vt:vector size="37" baseType="lpstr">
      <vt:lpstr>Arial</vt:lpstr>
      <vt:lpstr>Arial Black</vt:lpstr>
      <vt:lpstr>Book Antiqua</vt:lpstr>
      <vt:lpstr>Century Gothic</vt:lpstr>
      <vt:lpstr>Monotype Sorts</vt:lpstr>
      <vt:lpstr>Tahoma</vt:lpstr>
      <vt:lpstr>Times New Roman</vt:lpstr>
      <vt:lpstr>Apothecary</vt:lpstr>
      <vt:lpstr>Clip</vt:lpstr>
      <vt:lpstr>CorelPhotoPaint.Image.8</vt:lpstr>
      <vt:lpstr>PowerPoint Presentation</vt:lpstr>
      <vt:lpstr>The Roots of Public Speaking Anxiety: Lack of Experience</vt:lpstr>
      <vt:lpstr>The Roots of Public Speaking Anxiety: Feeling Different </vt:lpstr>
      <vt:lpstr>The Roots of Public Speaking Anxiety: Being the Center of Attention</vt:lpstr>
      <vt:lpstr>Public Speaking Anxiety: Forms and Consequences</vt:lpstr>
      <vt:lpstr>Public Speaking Anxiety: Communication Apprehension</vt:lpstr>
      <vt:lpstr>Public Speaking Anxiety: Communication Apprehension</vt:lpstr>
      <vt:lpstr>Public Speaking Anxiety: Communication Apprehension</vt:lpstr>
      <vt:lpstr>Public Speaking Anxiety: Public Speaking Anxiety</vt:lpstr>
      <vt:lpstr>Public Speaking Anxiety: Public Speaking Anxiety</vt:lpstr>
      <vt:lpstr>Public Speaking Anxiety: Consequences of Public Speaking Anxiety</vt:lpstr>
      <vt:lpstr>Public Speaking Anxiety: Coping With Public Speaking Anxiety</vt:lpstr>
      <vt:lpstr>Strategies For Getting Started With Confidence</vt:lpstr>
      <vt:lpstr>Strategies for Getting Started With Confidence: Prepare and Practice</vt:lpstr>
      <vt:lpstr>Strategies for Getting Started With Confidence:  Modify Thoughts And Attitudes</vt:lpstr>
      <vt:lpstr>Strategies for Getting Started With Confidence:  Visualize Success</vt:lpstr>
      <vt:lpstr>Strategies for Getting Started With Confidence:  The Wave</vt:lpstr>
      <vt:lpstr>Strategies for Getting Started With Confidence:  Natural Gestures </vt:lpstr>
      <vt:lpstr>Strategies for Getting Started With Confidence:  Freedom to Walk</vt:lpstr>
      <vt:lpstr>Strategies for Getting Started With Confidence:  Depersonalize The Speech Evaluation</vt:lpstr>
      <vt:lpstr>Strategies for Getting Started With Confidence:  Seek Pleasure in the Occasion</vt:lpstr>
      <vt:lpstr>Giving it a Try: Select a Topic</vt:lpstr>
      <vt:lpstr>Giving it a Try: Analyze the Audience</vt:lpstr>
      <vt:lpstr>Giving it a Try: State the Speech Purpose</vt:lpstr>
      <vt:lpstr>Giving it a Try: Develop the Main Points</vt:lpstr>
      <vt:lpstr>Giving it a Try: Gather Supporting Materials</vt:lpstr>
      <vt:lpstr>Giving it a Try: Practice Delivering the Speech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Two</dc:title>
  <dc:creator>Nathan P. Fitzgerald</dc:creator>
  <cp:lastModifiedBy>Anthony J. Lucchese</cp:lastModifiedBy>
  <cp:revision>23</cp:revision>
  <dcterms:created xsi:type="dcterms:W3CDTF">1998-10-30T16:58:20Z</dcterms:created>
  <dcterms:modified xsi:type="dcterms:W3CDTF">2019-09-17T04:01:00Z</dcterms:modified>
</cp:coreProperties>
</file>